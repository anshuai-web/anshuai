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 Speaker Notes:</a:t>
            </a:r>
          </a:p>
          <a:p>
            <a:r>
              <a:t>- Welcome the audience and introduce AnshuAI. Highlight the visual theme: 'Intelligence Illuminated' — the gold represents clarity and transparency, the teal represents intelligent workflows, and the deep background represents the complex operational environment we simplify.</a:t>
            </a:r>
          </a:p>
          <a:p>
            <a:r>
              <a:t>- State our core mission clearly: Intelligent Automation &amp; Enterprise AI Solutions.</a:t>
            </a:r>
          </a:p>
          <a:p>
            <a:r>
              <a:t>- Outline our objective for today's deck: to show how AnshuAI helps prospective customers achieve true operational excellence, reduce administrative silos, and realize rapid business value using ServiceNow and integrated AI solutions.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 Speaker Notes:</a:t>
            </a:r>
          </a:p>
          <a:p>
            <a:r>
              <a:t>- Give a proper introduction to AnshuAI as a company. We focus heavily on bringing artificial intelligence and ServiceNow platform mastery together.</a:t>
            </a:r>
          </a:p>
          <a:p>
            <a:r>
              <a:t>- Emphasize that we do not build standalone AI tools; instead, we integrate AI directly into workflow platforms like ServiceNow so they can solve real-time, daily operational problems.</a:t>
            </a:r>
          </a:p>
          <a:p>
            <a:r>
              <a:t>- Mention our foundational philosophy: operational excellence is a strategic imperative. Explain that we help break down administrative silos, automate workflows, and empower teams to reach their full potential.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 Speaker Notes:</a:t>
            </a:r>
          </a:p>
          <a:p>
            <a:r>
              <a:t>- Walk the prospective customer through the core problems that we see across almost every industry (Healthcare, Manufacturing, FMCG).</a:t>
            </a:r>
          </a:p>
          <a:p>
            <a:r>
              <a:t>- Explain that many companies have massive systems of record but they are highly decentralized. This leads to information silos, manual coordination (emails/calls), slow resolution, and critical audit exposure.</a:t>
            </a:r>
          </a:p>
          <a:p>
            <a:r>
              <a:t>- Highlight that we address these four operational friction points simultaneously by establishing a single source of truth and automated workflow controls.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 Speaker Notes:</a:t>
            </a:r>
          </a:p>
          <a:p>
            <a:r>
              <a:t>- Walk through AnshuAI's 4 core capabilities. These form our primary technical pillars.</a:t>
            </a:r>
          </a:p>
          <a:p>
            <a:r>
              <a:t>- 1. ServiceNow platform design: we 'industrialize' the platform, meaning we move it from standard IT ticketing to an engineered system of operational records.</a:t>
            </a:r>
          </a:p>
          <a:p>
            <a:r>
              <a:t>- 2. Bespoke AI: building clean neural models and NLP workflows to interpret data.</a:t>
            </a:r>
          </a:p>
          <a:p>
            <a:r>
              <a:t>- 3. AI Automation: connecting systems and cutting human labor out of manual tasks.</a:t>
            </a:r>
          </a:p>
          <a:p>
            <a:r>
              <a:t>- 4. 'HeadStart' Use Cases: this is our key differentiator. Instead of starting from scratch and taking a year to design, we bring pre-configured modules directly to customers, cutting design time to just 8-12 weeks.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 Speaker Notes:</a:t>
            </a:r>
          </a:p>
          <a:p>
            <a:r>
              <a:t>- Dive into our first major 'HeadStart' industry accelerator: Healthcare Agility.</a:t>
            </a:r>
          </a:p>
          <a:p>
            <a:r>
              <a:t>- Explain how we automate Patient Case Management. Currently, hospitals manage complaints and escalations via fragmented channels (calls, papers, legacy database records). We tie everything into ServiceNow CSM and integrate directly with active EMR/EHR systems via HIPAA-compliant endpoints.</a:t>
            </a:r>
          </a:p>
          <a:p>
            <a:r>
              <a:t>- The results are highly quantitative: a 30% to 40% reduction in resolution times. Most importantly, we save clinical teams over 1,000 administrative hours every month, which are returned directly to active patient-facing care.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 Speaker Notes:</a:t>
            </a:r>
          </a:p>
          <a:p>
            <a:r>
              <a:t>- Walk the customer through our second 'HeadStart' industry accelerator: Manufacturing Excellence.</a:t>
            </a:r>
          </a:p>
          <a:p>
            <a:r>
              <a:t>- This accelerator contains two distinct solutions:</a:t>
            </a:r>
          </a:p>
          <a:p>
            <a:r>
              <a:t>- First, Maintenance, Repair, and Operations (MRO): We tie IoT sensors and device telemetry directly into ServiceNow ITOM and Field Service Management. When a machine shows heat or vibration alerts, the platform auto-generates a work order and routes a mobile technician before failure occurs, cutting downtime by 25%.</a:t>
            </a:r>
          </a:p>
          <a:p>
            <a:r>
              <a:t>- Second, Recall Management and Compliance Automation: In manufacturing, a defective batch can cause catastrophic brand damage. Our framework automates compliance tracking, alerts, and field technician dispatch, speeding up recall resolution by 30% to 40%.</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7 Speaker Notes:</a:t>
            </a:r>
          </a:p>
          <a:p>
            <a:r>
              <a:t>- Discuss our third major 'HeadStart' industry accelerator: FMCG Agility.</a:t>
            </a:r>
          </a:p>
          <a:p>
            <a:r>
              <a:t>- Emphasize how in the Fast-Moving Consumer Goods sector, speed and inventory accuracy are everything.</a:t>
            </a:r>
          </a:p>
          <a:p>
            <a:r>
              <a:t>- Show how we solve the problem: we do not just replace their core ERP system. Instead, we use ServiceNow's Integration Hub to bridge existing POS and warehouse databases, then wrap AnshuAI's predictive demand models around replenishment triggers.</a:t>
            </a:r>
          </a:p>
          <a:p>
            <a:r>
              <a:t>- The ROI is clear: stockouts and overstocks drop by 20% to 30%, while the manual, labor-intensive administration of placing restocking orders is cut by 15% to 25%.</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8 Speaker Notes:</a:t>
            </a:r>
          </a:p>
          <a:p>
            <a:r>
              <a:t>- Summarize the overarching business value of partnering with AnshuAI across all operational units.</a:t>
            </a:r>
          </a:p>
          <a:p>
            <a:r>
              <a:t>- Highlight 1. Operational Efficiency: 30% reduction in manual effort. Explain that this represents administrative overhead that can be reassigned to core business expansion.</a:t>
            </a:r>
          </a:p>
          <a:p>
            <a:r>
              <a:t>- Highlight 2. Risk Mitigation: We build automation and logging natively. This means compliance audit trials (for HIPAA, GDPR, or manufacturing safety standards) are created in real-time, removing the threat of compliance fines.</a:t>
            </a:r>
          </a:p>
          <a:p>
            <a:r>
              <a:t>- Highlight 3. Experience: Sluggish workflows frustrate workers and buyers alike. Beautiful, modern portals and virtual support tools significantly improve satisfaction scores.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9 Speaker Notes:</a:t>
            </a:r>
          </a:p>
          <a:p>
            <a:r>
              <a:t>- Walk the client through the deployment timeline. A major concern for clients is: 'Will this take 18 months and cost millions?'</a:t>
            </a:r>
          </a:p>
          <a:p>
            <a:r>
              <a:t>- Reassure them that our proven roadmap takes only 8 to 12 weeks from initial assessment to live go-live.</a:t>
            </a:r>
          </a:p>
          <a:p>
            <a:r>
              <a:t>- Phase 1 (Discovery &amp; Scoping, 2 weeks).</a:t>
            </a:r>
          </a:p>
          <a:p>
            <a:r>
              <a:t>- Phase 2 (Strategic Design, 1-2 weeks).</a:t>
            </a:r>
          </a:p>
          <a:p>
            <a:r>
              <a:t>- Phase 3 (License Tuning, conducted in parallel to ensure optimal cost control).</a:t>
            </a:r>
          </a:p>
          <a:p>
            <a:r>
              <a:t>- Phase 4 (Build &amp; Deploy, 4-6 weeks in high-velocity agile sprints).</a:t>
            </a:r>
          </a:p>
          <a:p>
            <a:r>
              <a:t>- Phase 5 (Enablement, testing, support, and continuous metric-driven improvements).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10 Speaker Notes:</a:t>
            </a:r>
          </a:p>
          <a:p>
            <a:r>
              <a:t>- Conclude the presentation with a powerful call to action.</a:t>
            </a:r>
          </a:p>
          <a:p>
            <a:r>
              <a:t>- Emphasize that AnshuAI is ready to co-create a more efficient and transparent operating model for them.</a:t>
            </a:r>
          </a:p>
          <a:p>
            <a:r>
              <a:t>- Invite them to schedule an initial complimentary Value Assessment to map out their key operational bottlenecks.</a:t>
            </a:r>
          </a:p>
          <a:p>
            <a:r>
              <a:t>- Thank the audience for their time and open the floor for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Rectangle 1"/>
          <p:cNvSpPr/>
          <p:nvPr/>
        </p:nvSpPr>
        <p:spPr>
          <a:xfrm>
            <a:off x="6095390" y="0"/>
            <a:ext cx="6096304" cy="6858000"/>
          </a:xfrm>
          <a:prstGeom prst="rect">
            <a:avLst/>
          </a:prstGeom>
          <a:solidFill>
            <a:srgbClr val="071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080760" y="0"/>
            <a:ext cx="29260" cy="68580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645920"/>
            <a:ext cx="4754880" cy="4114800"/>
          </a:xfrm>
          <a:prstGeom prst="rect">
            <a:avLst/>
          </a:prstGeom>
          <a:noFill/>
        </p:spPr>
        <p:txBody>
          <a:bodyPr wrap="square">
            <a:spAutoFit/>
          </a:bodyPr>
          <a:lstStyle/>
          <a:p>
            <a:pPr>
              <a:spcAft>
                <a:spcPts val="400"/>
              </a:spcAft>
            </a:pPr>
            <a:r>
              <a:rPr sz="5400" b="1">
                <a:solidFill>
                  <a:srgbClr val="1D2A30"/>
                </a:solidFill>
                <a:latin typeface="Georgia"/>
              </a:rPr>
              <a:t>AnshuAI</a:t>
            </a:r>
          </a:p>
          <a:p>
            <a:pPr>
              <a:spcAft>
                <a:spcPts val="2400"/>
              </a:spcAft>
            </a:pPr>
            <a:r>
              <a:rPr sz="2400">
                <a:solidFill>
                  <a:srgbClr val="137A7F"/>
                </a:solidFill>
                <a:latin typeface="Georgia"/>
              </a:rPr>
              <a:t>Intelligence Illuminated</a:t>
            </a:r>
          </a:p>
          <a:p>
            <a:pPr>
              <a:spcAft>
                <a:spcPts val="400"/>
              </a:spcAft>
            </a:pPr>
            <a:r>
              <a:rPr sz="1100" b="1">
                <a:solidFill>
                  <a:srgbClr val="6E7E85"/>
                </a:solidFill>
                <a:latin typeface="Arial"/>
              </a:rPr>
              <a:t>MISSION STATEMENT</a:t>
            </a:r>
          </a:p>
          <a:p>
            <a:pPr>
              <a:spcAft>
                <a:spcPts val="2400"/>
              </a:spcAft>
            </a:pPr>
            <a:r>
              <a:rPr sz="1800" b="1">
                <a:solidFill>
                  <a:srgbClr val="1D2A30"/>
                </a:solidFill>
                <a:latin typeface="Arial"/>
              </a:rPr>
              <a:t>Intelligent Automation &amp; Enterprise AI Solutions</a:t>
            </a:r>
          </a:p>
          <a:p>
            <a:r>
              <a:rPr sz="1300">
                <a:solidFill>
                  <a:srgbClr val="6E7E85"/>
                </a:solidFill>
                <a:latin typeface="Arial"/>
              </a:rPr>
              <a:t>Accelerating Business Transformation through ServiceNow Excellence &amp; Bespoke AI Solutions.</a:t>
            </a:r>
          </a:p>
        </p:txBody>
      </p:sp>
      <p:sp>
        <p:nvSpPr>
          <p:cNvPr id="5" name="TextBox 4"/>
          <p:cNvSpPr txBox="1"/>
          <p:nvPr/>
        </p:nvSpPr>
        <p:spPr>
          <a:xfrm>
            <a:off x="6766560" y="2286000"/>
            <a:ext cx="4572000" cy="3200400"/>
          </a:xfrm>
          <a:prstGeom prst="rect">
            <a:avLst/>
          </a:prstGeom>
          <a:noFill/>
        </p:spPr>
        <p:txBody>
          <a:bodyPr wrap="square">
            <a:spAutoFit/>
          </a:bodyPr>
          <a:lstStyle/>
          <a:p>
            <a:pPr>
              <a:spcAft>
                <a:spcPts val="800"/>
              </a:spcAft>
            </a:pPr>
            <a:r>
              <a:rPr sz="1200" b="1">
                <a:solidFill>
                  <a:srgbClr val="D4AF37"/>
                </a:solidFill>
                <a:latin typeface="Arial"/>
              </a:rPr>
              <a:t>BRIDGING THE GAP</a:t>
            </a:r>
          </a:p>
          <a:p>
            <a:pPr>
              <a:spcAft>
                <a:spcPts val="2400"/>
              </a:spcAft>
            </a:pPr>
            <a:r>
              <a:rPr sz="1800">
                <a:solidFill>
                  <a:srgbClr val="FAF9F5"/>
                </a:solidFill>
                <a:latin typeface="Arial"/>
              </a:rPr>
              <a:t>We illuminate dark, siloed operations and convert complex business data into brilliant, highly coordinated, and predictive workflows.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457200" y="457200"/>
            <a:ext cx="11277295" cy="914400"/>
          </a:xfrm>
          <a:prstGeom prst="rect">
            <a:avLst/>
          </a:prstGeom>
          <a:noFill/>
        </p:spPr>
        <p:txBody>
          <a:bodyPr wrap="square" tIns="0" bIns="0" lIns="0" rIns="0">
            <a:spAutoFit/>
          </a:bodyPr>
          <a:lstStyle/>
          <a:p>
            <a:pPr algn="l"/>
            <a:r>
              <a:rPr sz="2400" b="1">
                <a:solidFill>
                  <a:srgbClr val="1D2A30"/>
                </a:solidFill>
                <a:latin typeface="Georgia"/>
              </a:rPr>
              <a:t>AnshuAI Unites ServiceNow and Enterprise AI to Solve Complex Business Challenges</a:t>
            </a:r>
          </a:p>
        </p:txBody>
      </p:sp>
      <p:sp>
        <p:nvSpPr>
          <p:cNvPr id="3" name="Rectangle 2"/>
          <p:cNvSpPr/>
          <p:nvPr/>
        </p:nvSpPr>
        <p:spPr>
          <a:xfrm>
            <a:off x="457200" y="1188720"/>
            <a:ext cx="11277295" cy="254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0"/>
            <a:ext cx="5303520" cy="4389120"/>
          </a:xfrm>
          <a:prstGeom prst="rect">
            <a:avLst/>
          </a:prstGeom>
          <a:noFill/>
        </p:spPr>
        <p:txBody>
          <a:bodyPr wrap="square">
            <a:spAutoFit/>
          </a:bodyPr>
          <a:lstStyle/>
          <a:p>
            <a:pPr>
              <a:spcAft>
                <a:spcPts val="1200"/>
              </a:spcAft>
            </a:pPr>
            <a:r>
              <a:rPr sz="2200" b="1">
                <a:solidFill>
                  <a:srgbClr val="137A7F"/>
                </a:solidFill>
                <a:latin typeface="Georgia"/>
              </a:rPr>
              <a:t>Who We Are</a:t>
            </a:r>
          </a:p>
          <a:p>
            <a:pPr>
              <a:spcAft>
                <a:spcPts val="1200"/>
              </a:spcAft>
            </a:pPr>
            <a:r>
              <a:rPr sz="1500">
                <a:solidFill>
                  <a:srgbClr val="1D2A30"/>
                </a:solidFill>
                <a:latin typeface="Arial"/>
              </a:rPr>
              <a:t>AnshuAI is an elite technology integration and solutions partner specializing in ServiceNow engineering and custom Enterprise AI systems. We solve real-time business challenges by centralizing disparate operations and embedding intelligent automation into standard daily tasks.</a:t>
            </a:r>
          </a:p>
          <a:p>
            <a:r>
              <a:rPr sz="1500">
                <a:solidFill>
                  <a:srgbClr val="1D2A30"/>
                </a:solidFill>
                <a:latin typeface="Arial"/>
              </a:rPr>
              <a:t>Our organization brings together deeply certified platform engineers and data scientists to build seamless workflows that eliminate operational bottlenecks, enforce regulatory compliance, and drive rapid time-to-value for modern enterprises.</a:t>
            </a:r>
          </a:p>
        </p:txBody>
      </p:sp>
      <p:sp>
        <p:nvSpPr>
          <p:cNvPr id="5" name="TextBox 4"/>
          <p:cNvSpPr txBox="1"/>
          <p:nvPr/>
        </p:nvSpPr>
        <p:spPr>
          <a:xfrm>
            <a:off x="6400800" y="1645920"/>
            <a:ext cx="5303520" cy="4389120"/>
          </a:xfrm>
          <a:prstGeom prst="rect">
            <a:avLst/>
          </a:prstGeom>
          <a:noFill/>
        </p:spPr>
        <p:txBody>
          <a:bodyPr wrap="square">
            <a:spAutoFit/>
          </a:bodyPr>
          <a:lstStyle/>
          <a:p>
            <a:pPr>
              <a:spcAft>
                <a:spcPts val="1200"/>
              </a:spcAft>
            </a:pPr>
            <a:r>
              <a:rPr sz="2200" b="1">
                <a:solidFill>
                  <a:srgbClr val="137A7F"/>
                </a:solidFill>
                <a:latin typeface="Georgia"/>
              </a:rPr>
              <a:t>Our Mission</a:t>
            </a:r>
          </a:p>
          <a:p>
            <a:pPr>
              <a:spcAft>
                <a:spcPts val="1400"/>
              </a:spcAft>
            </a:pPr>
            <a:r>
              <a:rPr sz="1600" i="1" b="1">
                <a:solidFill>
                  <a:srgbClr val="1D2A30"/>
                </a:solidFill>
                <a:latin typeface="Arial"/>
              </a:rPr>
              <a:t>"Operational excellence is no longer optional—it’s a strategic imperative. When technology empowers transparency and agility, organizations unlock their highest potential."</a:t>
            </a:r>
          </a:p>
          <a:p>
            <a:r>
              <a:rPr sz="1500">
                <a:solidFill>
                  <a:srgbClr val="1D2A30"/>
                </a:solidFill>
                <a:latin typeface="Arial"/>
              </a:rPr>
              <a:t>We live by this standard. Traditional, disconnected silos and heavy manual workloads block modern scaling. Our objective is to guide organizations into a mature, unified operational state where digital systems act as unified platforms for continuous, automated transformation.</a:t>
            </a:r>
          </a:p>
        </p:txBody>
      </p:sp>
      <p:sp>
        <p:nvSpPr>
          <p:cNvPr id="6" name="TextBox 5"/>
          <p:cNvSpPr txBox="1"/>
          <p:nvPr/>
        </p:nvSpPr>
        <p:spPr>
          <a:xfrm>
            <a:off x="457200" y="6400800"/>
            <a:ext cx="11277295" cy="365760"/>
          </a:xfrm>
          <a:prstGeom prst="rect">
            <a:avLst/>
          </a:prstGeom>
          <a:noFill/>
        </p:spPr>
        <p:txBody>
          <a:bodyPr wrap="square">
            <a:spAutoFit/>
          </a:bodyPr>
          <a:lstStyle/>
          <a:p>
            <a:pPr algn="r"/>
            <a:r>
              <a:rPr sz="1000">
                <a:solidFill>
                  <a:srgbClr val="6E7E85"/>
                </a:solidFill>
                <a:latin typeface="Arial"/>
              </a:rPr>
              <a:t>Source: Industrialisation of ServiceNow White Paper (p. 1-4)</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457200" y="457200"/>
            <a:ext cx="11277295" cy="914400"/>
          </a:xfrm>
          <a:prstGeom prst="rect">
            <a:avLst/>
          </a:prstGeom>
          <a:noFill/>
        </p:spPr>
        <p:txBody>
          <a:bodyPr wrap="square" tIns="0" bIns="0" lIns="0" rIns="0">
            <a:spAutoFit/>
          </a:bodyPr>
          <a:lstStyle/>
          <a:p>
            <a:pPr algn="l"/>
            <a:r>
              <a:rPr sz="2400" b="1">
                <a:solidFill>
                  <a:srgbClr val="1D2A30"/>
                </a:solidFill>
                <a:latin typeface="Georgia"/>
              </a:rPr>
              <a:t>Siloed Systems and Manual Workflows Create Severe Operational and Compliance Risks</a:t>
            </a:r>
          </a:p>
        </p:txBody>
      </p:sp>
      <p:sp>
        <p:nvSpPr>
          <p:cNvPr id="3" name="Rectangle 2"/>
          <p:cNvSpPr/>
          <p:nvPr/>
        </p:nvSpPr>
        <p:spPr>
          <a:xfrm>
            <a:off x="457200" y="1188720"/>
            <a:ext cx="11277295" cy="254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 y="1645920"/>
            <a:ext cx="2542032" cy="4389120"/>
          </a:xfrm>
          <a:prstGeom prst="rect">
            <a:avLst/>
          </a:prstGeom>
          <a:solidFill>
            <a:srgbClr val="FAF9F5"/>
          </a:solidFill>
          <a:ln w="12700">
            <a:solidFill>
              <a:srgbClr val="D2D7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1645920"/>
            <a:ext cx="2542032" cy="13716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1920240"/>
            <a:ext cx="2267712" cy="4023360"/>
          </a:xfrm>
          <a:prstGeom prst="rect">
            <a:avLst/>
          </a:prstGeom>
          <a:noFill/>
        </p:spPr>
        <p:txBody>
          <a:bodyPr wrap="square">
            <a:spAutoFit/>
          </a:bodyPr>
          <a:lstStyle/>
          <a:p>
            <a:pPr>
              <a:spcAft>
                <a:spcPts val="400"/>
              </a:spcAft>
            </a:pPr>
            <a:r>
              <a:rPr sz="2000" b="1">
                <a:solidFill>
                  <a:srgbClr val="D4AF37"/>
                </a:solidFill>
                <a:latin typeface="Arial"/>
              </a:rPr>
              <a:t>01</a:t>
            </a:r>
          </a:p>
          <a:p>
            <a:pPr>
              <a:spcAft>
                <a:spcPts val="1000"/>
              </a:spcAft>
            </a:pPr>
            <a:r>
              <a:rPr sz="1600" b="1">
                <a:solidFill>
                  <a:srgbClr val="1D2A30"/>
                </a:solidFill>
                <a:latin typeface="Georgia"/>
              </a:rPr>
              <a:t>Decentralized</a:t>
            </a:r>
            <a:br/>
            <a:r>
              <a:rPr sz="1600" b="1">
                <a:solidFill>
                  <a:srgbClr val="1D2A30"/>
                </a:solidFill>
                <a:latin typeface="Georgia"/>
              </a:rPr>
              <a:t>Information</a:t>
            </a:r>
          </a:p>
          <a:p>
            <a:r>
              <a:rPr sz="1200">
                <a:solidFill>
                  <a:srgbClr val="6E7E85"/>
                </a:solidFill>
                <a:latin typeface="Arial"/>
              </a:rPr>
              <a:t>Data and operational files are scattered across disconnected spreadsheets, emails, and legacy software, creating critical visibility gaps.</a:t>
            </a:r>
          </a:p>
        </p:txBody>
      </p:sp>
      <p:sp>
        <p:nvSpPr>
          <p:cNvPr id="7" name="Rectangle 6"/>
          <p:cNvSpPr/>
          <p:nvPr/>
        </p:nvSpPr>
        <p:spPr>
          <a:xfrm>
            <a:off x="3364992" y="1645920"/>
            <a:ext cx="2542032" cy="4389120"/>
          </a:xfrm>
          <a:prstGeom prst="rect">
            <a:avLst/>
          </a:prstGeom>
          <a:solidFill>
            <a:srgbClr val="FAF9F5"/>
          </a:solidFill>
          <a:ln w="12700">
            <a:solidFill>
              <a:srgbClr val="D2D7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364992" y="1645920"/>
            <a:ext cx="2542032" cy="13716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502152" y="1920240"/>
            <a:ext cx="2267712" cy="4023360"/>
          </a:xfrm>
          <a:prstGeom prst="rect">
            <a:avLst/>
          </a:prstGeom>
          <a:noFill/>
        </p:spPr>
        <p:txBody>
          <a:bodyPr wrap="square">
            <a:spAutoFit/>
          </a:bodyPr>
          <a:lstStyle/>
          <a:p>
            <a:pPr>
              <a:spcAft>
                <a:spcPts val="400"/>
              </a:spcAft>
            </a:pPr>
            <a:r>
              <a:rPr sz="2000" b="1">
                <a:solidFill>
                  <a:srgbClr val="D4AF37"/>
                </a:solidFill>
                <a:latin typeface="Arial"/>
              </a:rPr>
              <a:t>02</a:t>
            </a:r>
          </a:p>
          <a:p>
            <a:pPr>
              <a:spcAft>
                <a:spcPts val="1000"/>
              </a:spcAft>
            </a:pPr>
            <a:r>
              <a:rPr sz="1600" b="1">
                <a:solidFill>
                  <a:srgbClr val="1D2A30"/>
                </a:solidFill>
                <a:latin typeface="Georgia"/>
              </a:rPr>
              <a:t>Manual &amp;</a:t>
            </a:r>
            <a:br/>
            <a:r>
              <a:rPr sz="1600" b="1">
                <a:solidFill>
                  <a:srgbClr val="1D2A30"/>
                </a:solidFill>
                <a:latin typeface="Georgia"/>
              </a:rPr>
              <a:t>Inefficient Workflows</a:t>
            </a:r>
          </a:p>
          <a:p>
            <a:r>
              <a:rPr sz="1200">
                <a:solidFill>
                  <a:srgbClr val="6E7E85"/>
                </a:solidFill>
                <a:latin typeface="Arial"/>
              </a:rPr>
              <a:t>Heavy reliance on human intervention for routing, approvals, and data transfer results in sluggish execution and massive administrative waste.</a:t>
            </a:r>
          </a:p>
        </p:txBody>
      </p:sp>
      <p:sp>
        <p:nvSpPr>
          <p:cNvPr id="10" name="Rectangle 9"/>
          <p:cNvSpPr/>
          <p:nvPr/>
        </p:nvSpPr>
        <p:spPr>
          <a:xfrm>
            <a:off x="6272784" y="1645920"/>
            <a:ext cx="2542032" cy="4389120"/>
          </a:xfrm>
          <a:prstGeom prst="rect">
            <a:avLst/>
          </a:prstGeom>
          <a:solidFill>
            <a:srgbClr val="FAF9F5"/>
          </a:solidFill>
          <a:ln w="12700">
            <a:solidFill>
              <a:srgbClr val="D2D7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72784" y="1645920"/>
            <a:ext cx="2542032" cy="13716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9944" y="1920240"/>
            <a:ext cx="2267712" cy="4023360"/>
          </a:xfrm>
          <a:prstGeom prst="rect">
            <a:avLst/>
          </a:prstGeom>
          <a:noFill/>
        </p:spPr>
        <p:txBody>
          <a:bodyPr wrap="square">
            <a:spAutoFit/>
          </a:bodyPr>
          <a:lstStyle/>
          <a:p>
            <a:pPr>
              <a:spcAft>
                <a:spcPts val="400"/>
              </a:spcAft>
            </a:pPr>
            <a:r>
              <a:rPr sz="2000" b="1">
                <a:solidFill>
                  <a:srgbClr val="D4AF37"/>
                </a:solidFill>
                <a:latin typeface="Arial"/>
              </a:rPr>
              <a:t>03</a:t>
            </a:r>
          </a:p>
          <a:p>
            <a:pPr>
              <a:spcAft>
                <a:spcPts val="1000"/>
              </a:spcAft>
            </a:pPr>
            <a:r>
              <a:rPr sz="1600" b="1">
                <a:solidFill>
                  <a:srgbClr val="1D2A30"/>
                </a:solidFill>
                <a:latin typeface="Georgia"/>
              </a:rPr>
              <a:t>Opaque Progress &amp;</a:t>
            </a:r>
            <a:br/>
            <a:r>
              <a:rPr sz="1600" b="1">
                <a:solidFill>
                  <a:srgbClr val="1D2A30"/>
                </a:solidFill>
                <a:latin typeface="Georgia"/>
              </a:rPr>
              <a:t>Lack of Ownership</a:t>
            </a:r>
          </a:p>
          <a:p>
            <a:r>
              <a:rPr sz="1200">
                <a:solidFill>
                  <a:srgbClr val="6E7E85"/>
                </a:solidFill>
                <a:latin typeface="Arial"/>
              </a:rPr>
              <a:t>Without centralized logging, it is virtually impossible to track task ownership, identify operational bottlenecks, or measure system-wide SLAs.</a:t>
            </a:r>
          </a:p>
        </p:txBody>
      </p:sp>
      <p:sp>
        <p:nvSpPr>
          <p:cNvPr id="13" name="Rectangle 12"/>
          <p:cNvSpPr/>
          <p:nvPr/>
        </p:nvSpPr>
        <p:spPr>
          <a:xfrm>
            <a:off x="9180576" y="1645920"/>
            <a:ext cx="2542032" cy="4389120"/>
          </a:xfrm>
          <a:prstGeom prst="rect">
            <a:avLst/>
          </a:prstGeom>
          <a:solidFill>
            <a:srgbClr val="FAF9F5"/>
          </a:solidFill>
          <a:ln w="12700">
            <a:solidFill>
              <a:srgbClr val="D2D7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9180576" y="1645920"/>
            <a:ext cx="2542032" cy="13716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317736" y="1920240"/>
            <a:ext cx="2267712" cy="4023360"/>
          </a:xfrm>
          <a:prstGeom prst="rect">
            <a:avLst/>
          </a:prstGeom>
          <a:noFill/>
        </p:spPr>
        <p:txBody>
          <a:bodyPr wrap="square">
            <a:spAutoFit/>
          </a:bodyPr>
          <a:lstStyle/>
          <a:p>
            <a:pPr>
              <a:spcAft>
                <a:spcPts val="400"/>
              </a:spcAft>
            </a:pPr>
            <a:r>
              <a:rPr sz="2000" b="1">
                <a:solidFill>
                  <a:srgbClr val="D4AF37"/>
                </a:solidFill>
                <a:latin typeface="Arial"/>
              </a:rPr>
              <a:t>04</a:t>
            </a:r>
          </a:p>
          <a:p>
            <a:pPr>
              <a:spcAft>
                <a:spcPts val="1000"/>
              </a:spcAft>
            </a:pPr>
            <a:r>
              <a:rPr sz="1600" b="1">
                <a:solidFill>
                  <a:srgbClr val="1D2A30"/>
                </a:solidFill>
                <a:latin typeface="Georgia"/>
              </a:rPr>
              <a:t>Compliance &amp;</a:t>
            </a:r>
            <a:br/>
            <a:r>
              <a:rPr sz="1600" b="1">
                <a:solidFill>
                  <a:srgbClr val="1D2A30"/>
                </a:solidFill>
                <a:latin typeface="Georgia"/>
              </a:rPr>
              <a:t>Audit Exposure</a:t>
            </a:r>
          </a:p>
          <a:p>
            <a:r>
              <a:rPr sz="1200">
                <a:solidFill>
                  <a:srgbClr val="6E7E85"/>
                </a:solidFill>
                <a:latin typeface="Arial"/>
              </a:rPr>
              <a:t>Inconsistent documentation, missing audit trails, and manual reporting leave organizations highly vulnerable to regulatory penalties and audit failure.</a:t>
            </a:r>
          </a:p>
        </p:txBody>
      </p:sp>
      <p:sp>
        <p:nvSpPr>
          <p:cNvPr id="16" name="TextBox 15"/>
          <p:cNvSpPr txBox="1"/>
          <p:nvPr/>
        </p:nvSpPr>
        <p:spPr>
          <a:xfrm>
            <a:off x="457200" y="6400800"/>
            <a:ext cx="11277295" cy="365760"/>
          </a:xfrm>
          <a:prstGeom prst="rect">
            <a:avLst/>
          </a:prstGeom>
          <a:noFill/>
        </p:spPr>
        <p:txBody>
          <a:bodyPr wrap="square">
            <a:spAutoFit/>
          </a:bodyPr>
          <a:lstStyle/>
          <a:p>
            <a:pPr algn="r"/>
            <a:r>
              <a:rPr sz="1000">
                <a:solidFill>
                  <a:srgbClr val="6E7E85"/>
                </a:solidFill>
                <a:latin typeface="Arial"/>
              </a:rPr>
              <a:t>Source: Industrialisation of ServiceNow (p. 2-3) &amp; Healthcare Agility White Paper (p. 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457200" y="457200"/>
            <a:ext cx="11277295" cy="914400"/>
          </a:xfrm>
          <a:prstGeom prst="rect">
            <a:avLst/>
          </a:prstGeom>
          <a:noFill/>
        </p:spPr>
        <p:txBody>
          <a:bodyPr wrap="square" tIns="0" bIns="0" lIns="0" rIns="0">
            <a:spAutoFit/>
          </a:bodyPr>
          <a:lstStyle/>
          <a:p>
            <a:pPr algn="l"/>
            <a:r>
              <a:rPr sz="2400" b="1">
                <a:solidFill>
                  <a:srgbClr val="1D2A30"/>
                </a:solidFill>
                <a:latin typeface="Georgia"/>
              </a:rPr>
              <a:t>Our Four Core Pillars Accelerate Transformation through Bespoke Automation</a:t>
            </a:r>
          </a:p>
        </p:txBody>
      </p:sp>
      <p:sp>
        <p:nvSpPr>
          <p:cNvPr id="3" name="Rectangle 2"/>
          <p:cNvSpPr/>
          <p:nvPr/>
        </p:nvSpPr>
        <p:spPr>
          <a:xfrm>
            <a:off x="457200" y="1188720"/>
            <a:ext cx="11277295" cy="254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 y="1645920"/>
            <a:ext cx="5303520" cy="2011680"/>
          </a:xfrm>
          <a:prstGeom prst="rect">
            <a:avLst/>
          </a:prstGeom>
          <a:solidFill>
            <a:srgbClr val="FAF9F5"/>
          </a:solidFill>
          <a:ln w="12700">
            <a:solidFill>
              <a:srgbClr val="D2D7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1645920"/>
            <a:ext cx="109728" cy="2011680"/>
          </a:xfrm>
          <a:prstGeom prst="rect">
            <a:avLst/>
          </a:prstGeom>
          <a:solidFill>
            <a:srgbClr val="137A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783080"/>
            <a:ext cx="4937760" cy="1737360"/>
          </a:xfrm>
          <a:prstGeom prst="rect">
            <a:avLst/>
          </a:prstGeom>
          <a:noFill/>
        </p:spPr>
        <p:txBody>
          <a:bodyPr wrap="square">
            <a:spAutoFit/>
          </a:bodyPr>
          <a:lstStyle/>
          <a:p>
            <a:pPr>
              <a:spcAft>
                <a:spcPts val="600"/>
              </a:spcAft>
            </a:pPr>
            <a:r>
              <a:rPr sz="1800" b="1">
                <a:solidFill>
                  <a:srgbClr val="137A7F"/>
                </a:solidFill>
                <a:latin typeface="Georgia"/>
              </a:rPr>
              <a:t>ServiceNow Skills</a:t>
            </a:r>
          </a:p>
          <a:p>
            <a:r>
              <a:rPr sz="1200">
                <a:solidFill>
                  <a:srgbClr val="1D2A30"/>
                </a:solidFill>
                <a:latin typeface="Arial"/>
              </a:rPr>
              <a:t>Centralizing, modernizing, and industrializing your standard business workflows. We help optimize existing licenses and turn ServiceNow into a highly structured, scalable operational hub.</a:t>
            </a:r>
          </a:p>
        </p:txBody>
      </p:sp>
      <p:sp>
        <p:nvSpPr>
          <p:cNvPr id="7" name="Rectangle 6"/>
          <p:cNvSpPr/>
          <p:nvPr/>
        </p:nvSpPr>
        <p:spPr>
          <a:xfrm>
            <a:off x="6400800" y="1645920"/>
            <a:ext cx="5303520" cy="2011680"/>
          </a:xfrm>
          <a:prstGeom prst="rect">
            <a:avLst/>
          </a:prstGeom>
          <a:solidFill>
            <a:srgbClr val="FAF9F5"/>
          </a:solidFill>
          <a:ln w="12700">
            <a:solidFill>
              <a:srgbClr val="D2D7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400800" y="1645920"/>
            <a:ext cx="109728" cy="2011680"/>
          </a:xfrm>
          <a:prstGeom prst="rect">
            <a:avLst/>
          </a:prstGeom>
          <a:solidFill>
            <a:srgbClr val="137A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75120" y="1783080"/>
            <a:ext cx="4937760" cy="1737360"/>
          </a:xfrm>
          <a:prstGeom prst="rect">
            <a:avLst/>
          </a:prstGeom>
          <a:noFill/>
        </p:spPr>
        <p:txBody>
          <a:bodyPr wrap="square">
            <a:spAutoFit/>
          </a:bodyPr>
          <a:lstStyle/>
          <a:p>
            <a:pPr>
              <a:spcAft>
                <a:spcPts val="600"/>
              </a:spcAft>
            </a:pPr>
            <a:r>
              <a:rPr sz="1800" b="1">
                <a:solidFill>
                  <a:srgbClr val="137A7F"/>
                </a:solidFill>
                <a:latin typeface="Georgia"/>
              </a:rPr>
              <a:t>Building AI Solutions</a:t>
            </a:r>
          </a:p>
          <a:p>
            <a:r>
              <a:rPr sz="1200">
                <a:solidFill>
                  <a:srgbClr val="1D2A30"/>
                </a:solidFill>
                <a:latin typeface="Arial"/>
              </a:rPr>
              <a:t>Developing bespoke machine learning models, natural language classifiers, and predictive analytics designed specifically to extract actionable commercial intelligence from your system data.</a:t>
            </a:r>
          </a:p>
        </p:txBody>
      </p:sp>
      <p:sp>
        <p:nvSpPr>
          <p:cNvPr id="10" name="Rectangle 9"/>
          <p:cNvSpPr/>
          <p:nvPr/>
        </p:nvSpPr>
        <p:spPr>
          <a:xfrm>
            <a:off x="457200" y="4023360"/>
            <a:ext cx="5303520" cy="2011680"/>
          </a:xfrm>
          <a:prstGeom prst="rect">
            <a:avLst/>
          </a:prstGeom>
          <a:solidFill>
            <a:srgbClr val="FAF9F5"/>
          </a:solidFill>
          <a:ln w="12700">
            <a:solidFill>
              <a:srgbClr val="D2D7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4023360"/>
            <a:ext cx="109728" cy="2011680"/>
          </a:xfrm>
          <a:prstGeom prst="rect">
            <a:avLst/>
          </a:prstGeom>
          <a:solidFill>
            <a:srgbClr val="137A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4160520"/>
            <a:ext cx="4937760" cy="1737360"/>
          </a:xfrm>
          <a:prstGeom prst="rect">
            <a:avLst/>
          </a:prstGeom>
          <a:noFill/>
        </p:spPr>
        <p:txBody>
          <a:bodyPr wrap="square">
            <a:spAutoFit/>
          </a:bodyPr>
          <a:lstStyle/>
          <a:p>
            <a:pPr>
              <a:spcAft>
                <a:spcPts val="600"/>
              </a:spcAft>
            </a:pPr>
            <a:r>
              <a:rPr sz="1800" b="1">
                <a:solidFill>
                  <a:srgbClr val="137A7F"/>
                </a:solidFill>
                <a:latin typeface="Georgia"/>
              </a:rPr>
              <a:t>AI Automation</a:t>
            </a:r>
          </a:p>
          <a:p>
            <a:r>
              <a:rPr sz="1200">
                <a:solidFill>
                  <a:srgbClr val="1D2A30"/>
                </a:solidFill>
                <a:latin typeface="Arial"/>
              </a:rPr>
              <a:t>Eliminating tedious, highly repetitive manual steps by wrapping robotic and intelligent processes directly around daily case handling, task intake, routing, and reporting cycles.</a:t>
            </a:r>
          </a:p>
        </p:txBody>
      </p:sp>
      <p:sp>
        <p:nvSpPr>
          <p:cNvPr id="13" name="Rectangle 12"/>
          <p:cNvSpPr/>
          <p:nvPr/>
        </p:nvSpPr>
        <p:spPr>
          <a:xfrm>
            <a:off x="6400800" y="4023360"/>
            <a:ext cx="5303520" cy="2011680"/>
          </a:xfrm>
          <a:prstGeom prst="rect">
            <a:avLst/>
          </a:prstGeom>
          <a:solidFill>
            <a:srgbClr val="FAF9F5"/>
          </a:solidFill>
          <a:ln w="12700">
            <a:solidFill>
              <a:srgbClr val="D2D7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400800" y="4023360"/>
            <a:ext cx="109728" cy="201168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675120" y="4160520"/>
            <a:ext cx="4937760" cy="1737360"/>
          </a:xfrm>
          <a:prstGeom prst="rect">
            <a:avLst/>
          </a:prstGeom>
          <a:noFill/>
        </p:spPr>
        <p:txBody>
          <a:bodyPr wrap="square">
            <a:spAutoFit/>
          </a:bodyPr>
          <a:lstStyle/>
          <a:p>
            <a:pPr>
              <a:spcAft>
                <a:spcPts val="600"/>
              </a:spcAft>
            </a:pPr>
            <a:r>
              <a:rPr sz="1800" b="1">
                <a:solidFill>
                  <a:srgbClr val="D4AF37"/>
                </a:solidFill>
                <a:latin typeface="Georgia"/>
              </a:rPr>
              <a:t>Industry 'HeadStart' Use Cases</a:t>
            </a:r>
          </a:p>
          <a:p>
            <a:r>
              <a:rPr sz="1200">
                <a:solidFill>
                  <a:srgbClr val="1D2A30"/>
                </a:solidFill>
                <a:latin typeface="Arial"/>
              </a:rPr>
              <a:t>Deploying pre-packaged, pre-configured ServiceNow &amp; AI system accelerators explicitly engineered for immediate, deep operational impact in Healthcare, Manufacturing, and FMCG sectors.</a:t>
            </a:r>
          </a:p>
        </p:txBody>
      </p:sp>
      <p:sp>
        <p:nvSpPr>
          <p:cNvPr id="16" name="TextBox 15"/>
          <p:cNvSpPr txBox="1"/>
          <p:nvPr/>
        </p:nvSpPr>
        <p:spPr>
          <a:xfrm>
            <a:off x="457200" y="6400800"/>
            <a:ext cx="11277295" cy="365760"/>
          </a:xfrm>
          <a:prstGeom prst="rect">
            <a:avLst/>
          </a:prstGeom>
          <a:noFill/>
        </p:spPr>
        <p:txBody>
          <a:bodyPr wrap="square">
            <a:spAutoFit/>
          </a:bodyPr>
          <a:lstStyle/>
          <a:p>
            <a:pPr algn="r"/>
            <a:r>
              <a:rPr sz="1000">
                <a:solidFill>
                  <a:srgbClr val="6E7E85"/>
                </a:solidFill>
                <a:latin typeface="Arial"/>
              </a:rPr>
              <a:t>Source: ServiceNow Industrialisation Core Framework</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457200" y="457200"/>
            <a:ext cx="11277295" cy="914400"/>
          </a:xfrm>
          <a:prstGeom prst="rect">
            <a:avLst/>
          </a:prstGeom>
          <a:noFill/>
        </p:spPr>
        <p:txBody>
          <a:bodyPr wrap="square" tIns="0" bIns="0" lIns="0" rIns="0">
            <a:spAutoFit/>
          </a:bodyPr>
          <a:lstStyle/>
          <a:p>
            <a:pPr algn="l"/>
            <a:r>
              <a:rPr sz="2400" b="1">
                <a:solidFill>
                  <a:srgbClr val="1D2A30"/>
                </a:solidFill>
                <a:latin typeface="Georgia"/>
              </a:rPr>
              <a:t>Healthcare Agility Solution Cuts Case Resolution Times by 30% to 40%</a:t>
            </a:r>
          </a:p>
        </p:txBody>
      </p:sp>
      <p:sp>
        <p:nvSpPr>
          <p:cNvPr id="3" name="Rectangle 2"/>
          <p:cNvSpPr/>
          <p:nvPr/>
        </p:nvSpPr>
        <p:spPr>
          <a:xfrm>
            <a:off x="457200" y="1188720"/>
            <a:ext cx="11277295" cy="254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0"/>
            <a:ext cx="5486400" cy="4389120"/>
          </a:xfrm>
          <a:prstGeom prst="rect">
            <a:avLst/>
          </a:prstGeom>
          <a:noFill/>
        </p:spPr>
        <p:txBody>
          <a:bodyPr wrap="square">
            <a:spAutoFit/>
          </a:bodyPr>
          <a:lstStyle/>
          <a:p>
            <a:pPr>
              <a:spcAft>
                <a:spcPts val="1200"/>
              </a:spcAft>
            </a:pPr>
            <a:r>
              <a:rPr sz="2000" b="1">
                <a:solidFill>
                  <a:srgbClr val="137A7F"/>
                </a:solidFill>
                <a:latin typeface="Georgia"/>
              </a:rPr>
              <a:t>Patient Case Management Accelerator</a:t>
            </a:r>
          </a:p>
          <a:p>
            <a:pPr>
              <a:spcAft>
                <a:spcPts val="1200"/>
              </a:spcAft>
            </a:pPr>
            <a:r>
              <a:rPr sz="1400">
                <a:solidFill>
                  <a:srgbClr val="1D2A30"/>
                </a:solidFill>
                <a:latin typeface="Arial"/>
              </a:rPr>
              <a:t>Our healthcare framework integrates administrative, clinical, and patient communication streams into a unified, secure platform. We replace fragmented manual logs with digital routing and comprehensive tracking.</a:t>
            </a:r>
          </a:p>
          <a:p>
            <a:pPr>
              <a:spcAft>
                <a:spcPts val="600"/>
              </a:spcAft>
            </a:pPr>
            <a:r>
              <a:rPr sz="1300" b="1">
                <a:solidFill>
                  <a:srgbClr val="1D2A30"/>
                </a:solidFill>
                <a:latin typeface="Arial"/>
              </a:rPr>
              <a:t>Key Technical Modules Deployed:</a:t>
            </a:r>
          </a:p>
          <a:p>
            <a:pPr>
              <a:spcAft>
                <a:spcPts val="400"/>
              </a:spcAft>
            </a:pPr>
            <a:r>
              <a:rPr sz="1200">
                <a:solidFill>
                  <a:srgbClr val="1D2A30"/>
                </a:solidFill>
                <a:latin typeface="Arial"/>
              </a:rPr>
              <a:t>• Customer Service Management (CSM): Multi-channel intake (patient portals, email, phone) with automated triaging.</a:t>
            </a:r>
          </a:p>
          <a:p>
            <a:pPr>
              <a:spcAft>
                <a:spcPts val="400"/>
              </a:spcAft>
            </a:pPr>
            <a:r>
              <a:rPr sz="1200">
                <a:solidFill>
                  <a:srgbClr val="1D2A30"/>
                </a:solidFill>
                <a:latin typeface="Arial"/>
              </a:rPr>
              <a:t>• EMR / EHR Integrations: Secure connections to active patient records via compliant clinical APIs.</a:t>
            </a:r>
          </a:p>
          <a:p>
            <a:pPr>
              <a:spcAft>
                <a:spcPts val="400"/>
              </a:spcAft>
            </a:pPr>
            <a:r>
              <a:rPr sz="1200">
                <a:solidFill>
                  <a:srgbClr val="1D2A30"/>
                </a:solidFill>
                <a:latin typeface="Arial"/>
              </a:rPr>
              <a:t>• Performance Analytics: Real-time compliance dashboards, SLA monitoring, and clinical audits.</a:t>
            </a:r>
          </a:p>
        </p:txBody>
      </p:sp>
      <p:sp>
        <p:nvSpPr>
          <p:cNvPr id="5" name="TextBox 4"/>
          <p:cNvSpPr txBox="1"/>
          <p:nvPr/>
        </p:nvSpPr>
        <p:spPr>
          <a:xfrm>
            <a:off x="6217920" y="1645920"/>
            <a:ext cx="5486400" cy="4389120"/>
          </a:xfrm>
          <a:prstGeom prst="rect">
            <a:avLst/>
          </a:prstGeom>
          <a:noFill/>
        </p:spPr>
        <p:txBody>
          <a:bodyPr wrap="square">
            <a:spAutoFit/>
          </a:bodyPr>
          <a:lstStyle/>
          <a:p>
            <a:pPr>
              <a:spcAft>
                <a:spcPts val="1200"/>
              </a:spcAft>
            </a:pPr>
            <a:r>
              <a:rPr sz="2000" b="1">
                <a:solidFill>
                  <a:srgbClr val="D4AF37"/>
                </a:solidFill>
                <a:latin typeface="Georgia"/>
              </a:rPr>
              <a:t>Proven Business Return on Investment</a:t>
            </a:r>
          </a:p>
        </p:txBody>
      </p:sp>
      <p:sp>
        <p:nvSpPr>
          <p:cNvPr id="6" name="Rectangle 5"/>
          <p:cNvSpPr/>
          <p:nvPr/>
        </p:nvSpPr>
        <p:spPr>
          <a:xfrm>
            <a:off x="6217920" y="2286000"/>
            <a:ext cx="5486400" cy="1645920"/>
          </a:xfrm>
          <a:prstGeom prst="rect">
            <a:avLst/>
          </a:prstGeom>
          <a:solidFill>
            <a:srgbClr val="071A2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200"/>
              </a:spcAft>
            </a:pPr>
            <a:r>
              <a:rPr sz="3600" b="1">
                <a:solidFill>
                  <a:srgbClr val="D4AF37"/>
                </a:solidFill>
                <a:latin typeface="Arial"/>
              </a:rPr>
              <a:t>30% - 40%</a:t>
            </a:r>
          </a:p>
          <a:p>
            <a:r>
              <a:rPr sz="1100">
                <a:solidFill>
                  <a:srgbClr val="FAF9F5"/>
                </a:solidFill>
                <a:latin typeface="Arial"/>
              </a:rPr>
              <a:t>Reduction in patient case resolution times, improving care quality, institutional trust, and clinical staff alignment.</a:t>
            </a:r>
          </a:p>
        </p:txBody>
      </p:sp>
      <p:sp>
        <p:nvSpPr>
          <p:cNvPr id="7" name="Rectangle 6"/>
          <p:cNvSpPr/>
          <p:nvPr/>
        </p:nvSpPr>
        <p:spPr>
          <a:xfrm>
            <a:off x="6217920" y="4206240"/>
            <a:ext cx="5486400" cy="1645920"/>
          </a:xfrm>
          <a:prstGeom prst="rect">
            <a:avLst/>
          </a:prstGeom>
          <a:solidFill>
            <a:srgbClr val="071A2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200"/>
              </a:spcAft>
            </a:pPr>
            <a:r>
              <a:rPr sz="3600" b="1">
                <a:solidFill>
                  <a:srgbClr val="137A7F"/>
                </a:solidFill>
                <a:latin typeface="Arial"/>
              </a:rPr>
              <a:t>1,000+ Hours</a:t>
            </a:r>
          </a:p>
          <a:p>
            <a:r>
              <a:rPr sz="1100">
                <a:solidFill>
                  <a:srgbClr val="FAF9F5"/>
                </a:solidFill>
                <a:latin typeface="Arial"/>
              </a:rPr>
              <a:t>Reclaimed by clinical and care teams per month through workflow automation, eliminating heavy administrative workloads.</a:t>
            </a:r>
          </a:p>
        </p:txBody>
      </p:sp>
      <p:sp>
        <p:nvSpPr>
          <p:cNvPr id="8" name="TextBox 7"/>
          <p:cNvSpPr txBox="1"/>
          <p:nvPr/>
        </p:nvSpPr>
        <p:spPr>
          <a:xfrm>
            <a:off x="457200" y="6400800"/>
            <a:ext cx="11277295" cy="365760"/>
          </a:xfrm>
          <a:prstGeom prst="rect">
            <a:avLst/>
          </a:prstGeom>
          <a:noFill/>
        </p:spPr>
        <p:txBody>
          <a:bodyPr wrap="square">
            <a:spAutoFit/>
          </a:bodyPr>
          <a:lstStyle/>
          <a:p>
            <a:pPr algn="r"/>
            <a:r>
              <a:rPr sz="1000">
                <a:solidFill>
                  <a:srgbClr val="6E7E85"/>
                </a:solidFill>
                <a:latin typeface="Arial"/>
              </a:rPr>
              <a:t>Source: Healthcare Agility White Paper (p. 1-4) &amp; ServiceNow Healthcare Case Studies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457200" y="457200"/>
            <a:ext cx="11277295" cy="914400"/>
          </a:xfrm>
          <a:prstGeom prst="rect">
            <a:avLst/>
          </a:prstGeom>
          <a:noFill/>
        </p:spPr>
        <p:txBody>
          <a:bodyPr wrap="square" tIns="0" bIns="0" lIns="0" rIns="0">
            <a:spAutoFit/>
          </a:bodyPr>
          <a:lstStyle/>
          <a:p>
            <a:pPr algn="l"/>
            <a:r>
              <a:rPr sz="2400" b="1">
                <a:solidFill>
                  <a:srgbClr val="1D2A30"/>
                </a:solidFill>
                <a:latin typeface="Georgia"/>
              </a:rPr>
              <a:t>Manufacturing MRO and Recall Solutions Reduce Asset Downtime by 25%</a:t>
            </a:r>
          </a:p>
        </p:txBody>
      </p:sp>
      <p:sp>
        <p:nvSpPr>
          <p:cNvPr id="3" name="Rectangle 2"/>
          <p:cNvSpPr/>
          <p:nvPr/>
        </p:nvSpPr>
        <p:spPr>
          <a:xfrm>
            <a:off x="457200" y="1188720"/>
            <a:ext cx="11277295" cy="254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 y="1645920"/>
            <a:ext cx="5486400" cy="4389120"/>
          </a:xfrm>
          <a:prstGeom prst="rect">
            <a:avLst/>
          </a:prstGeom>
          <a:solidFill>
            <a:srgbClr val="FAF9F5"/>
          </a:solidFill>
          <a:ln w="12700">
            <a:solidFill>
              <a:srgbClr val="D2D7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1645920"/>
            <a:ext cx="5486400" cy="109728"/>
          </a:xfrm>
          <a:prstGeom prst="rect">
            <a:avLst/>
          </a:prstGeom>
          <a:solidFill>
            <a:srgbClr val="137A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828800"/>
            <a:ext cx="5120640" cy="4023360"/>
          </a:xfrm>
          <a:prstGeom prst="rect">
            <a:avLst/>
          </a:prstGeom>
          <a:noFill/>
        </p:spPr>
        <p:txBody>
          <a:bodyPr wrap="square">
            <a:spAutoFit/>
          </a:bodyPr>
          <a:lstStyle/>
          <a:p>
            <a:pPr>
              <a:spcAft>
                <a:spcPts val="800"/>
              </a:spcAft>
            </a:pPr>
            <a:r>
              <a:rPr sz="1800" b="1">
                <a:solidFill>
                  <a:srgbClr val="137A7F"/>
                </a:solidFill>
                <a:latin typeface="Georgia"/>
              </a:rPr>
              <a:t>01. Intelligent Asset Maintenance (MRO)</a:t>
            </a:r>
          </a:p>
          <a:p>
            <a:pPr>
              <a:spcAft>
                <a:spcPts val="1400"/>
              </a:spcAft>
            </a:pPr>
            <a:r>
              <a:rPr sz="1200">
                <a:solidFill>
                  <a:srgbClr val="1D2A30"/>
                </a:solidFill>
                <a:latin typeface="Arial"/>
              </a:rPr>
              <a:t>Centralizes complex industrial equipment records and automates routine maintenance schedules to eliminate unexpected failures.</a:t>
            </a:r>
          </a:p>
          <a:p>
            <a:pPr>
              <a:spcAft>
                <a:spcPts val="400"/>
              </a:spcAft>
            </a:pPr>
            <a:r>
              <a:rPr sz="2200" b="1">
                <a:solidFill>
                  <a:srgbClr val="137A7F"/>
                </a:solidFill>
                <a:latin typeface="Arial"/>
              </a:rPr>
              <a:t>25% Downtime Reduction</a:t>
            </a:r>
          </a:p>
          <a:p>
            <a:pPr>
              <a:spcAft>
                <a:spcPts val="1400"/>
              </a:spcAft>
            </a:pPr>
            <a:r>
              <a:rPr sz="1200">
                <a:solidFill>
                  <a:srgbClr val="6E7E85"/>
                </a:solidFill>
                <a:latin typeface="Arial"/>
              </a:rPr>
              <a:t>Minimized unplanned manufacturing disruptions and maximized machinery lifecycle through automated field service routing.</a:t>
            </a:r>
          </a:p>
          <a:p>
            <a:r>
              <a:rPr sz="1100">
                <a:solidFill>
                  <a:srgbClr val="1D2A30"/>
                </a:solidFill>
                <a:latin typeface="Arial"/>
              </a:rPr>
              <a:t>Key Modules: ITOM (for device telemetry/alerts), Asset Management, and Field Service Management (FSM) mobile apps.</a:t>
            </a:r>
          </a:p>
        </p:txBody>
      </p:sp>
      <p:sp>
        <p:nvSpPr>
          <p:cNvPr id="7" name="Rectangle 6"/>
          <p:cNvSpPr/>
          <p:nvPr/>
        </p:nvSpPr>
        <p:spPr>
          <a:xfrm>
            <a:off x="6217920" y="1645920"/>
            <a:ext cx="5486400" cy="4389120"/>
          </a:xfrm>
          <a:prstGeom prst="rect">
            <a:avLst/>
          </a:prstGeom>
          <a:solidFill>
            <a:srgbClr val="FAF9F5"/>
          </a:solidFill>
          <a:ln w="12700">
            <a:solidFill>
              <a:srgbClr val="D2D7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217920" y="1645920"/>
            <a:ext cx="5486400" cy="10972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828800"/>
            <a:ext cx="5120640" cy="4023360"/>
          </a:xfrm>
          <a:prstGeom prst="rect">
            <a:avLst/>
          </a:prstGeom>
          <a:noFill/>
        </p:spPr>
        <p:txBody>
          <a:bodyPr wrap="square">
            <a:spAutoFit/>
          </a:bodyPr>
          <a:lstStyle/>
          <a:p>
            <a:pPr>
              <a:spcAft>
                <a:spcPts val="800"/>
              </a:spcAft>
            </a:pPr>
            <a:r>
              <a:rPr sz="1800" b="1">
                <a:solidFill>
                  <a:srgbClr val="D4AF37"/>
                </a:solidFill>
                <a:latin typeface="Georgia"/>
              </a:rPr>
              <a:t>02. Recall Management &amp; Compliance</a:t>
            </a:r>
          </a:p>
          <a:p>
            <a:pPr>
              <a:spcAft>
                <a:spcPts val="1400"/>
              </a:spcAft>
            </a:pPr>
            <a:r>
              <a:rPr sz="1200">
                <a:solidFill>
                  <a:srgbClr val="1D2A30"/>
                </a:solidFill>
                <a:latin typeface="Arial"/>
              </a:rPr>
              <a:t>Automates product alerts, compliance reporting, and field correction response workflows to limit regulatory and liability exposures.</a:t>
            </a:r>
          </a:p>
          <a:p>
            <a:pPr>
              <a:spcAft>
                <a:spcPts val="400"/>
              </a:spcAft>
            </a:pPr>
            <a:r>
              <a:rPr sz="2200" b="1">
                <a:solidFill>
                  <a:srgbClr val="D4AF37"/>
                </a:solidFill>
                <a:latin typeface="Arial"/>
              </a:rPr>
              <a:t>30% - 40% Faster Recall Closure</a:t>
            </a:r>
          </a:p>
          <a:p>
            <a:pPr>
              <a:spcAft>
                <a:spcPts val="1400"/>
              </a:spcAft>
            </a:pPr>
            <a:r>
              <a:rPr sz="1200">
                <a:solidFill>
                  <a:srgbClr val="6E7E85"/>
                </a:solidFill>
                <a:latin typeface="Arial"/>
              </a:rPr>
              <a:t>Drastically reduced brand exposure by accelerating notification routing, field coordination, and regulatory reporting.</a:t>
            </a:r>
          </a:p>
          <a:p>
            <a:r>
              <a:rPr sz="1100">
                <a:solidFill>
                  <a:srgbClr val="1D2A30"/>
                </a:solidFill>
                <a:latin typeface="Arial"/>
              </a:rPr>
              <a:t>Key Modules: Compliance Management, CSM (for supplier and customer communication), and Performance Analytics.</a:t>
            </a:r>
          </a:p>
        </p:txBody>
      </p:sp>
      <p:sp>
        <p:nvSpPr>
          <p:cNvPr id="10" name="TextBox 9"/>
          <p:cNvSpPr txBox="1"/>
          <p:nvPr/>
        </p:nvSpPr>
        <p:spPr>
          <a:xfrm>
            <a:off x="457200" y="6400800"/>
            <a:ext cx="11277295" cy="365760"/>
          </a:xfrm>
          <a:prstGeom prst="rect">
            <a:avLst/>
          </a:prstGeom>
          <a:noFill/>
        </p:spPr>
        <p:txBody>
          <a:bodyPr wrap="square">
            <a:spAutoFit/>
          </a:bodyPr>
          <a:lstStyle/>
          <a:p>
            <a:pPr algn="r"/>
            <a:r>
              <a:rPr sz="1000">
                <a:solidFill>
                  <a:srgbClr val="6E7E85"/>
                </a:solidFill>
                <a:latin typeface="Arial"/>
              </a:rPr>
              <a:t>Source: Industrialisation of ServiceNow White Paper (p. 21-39)</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457200" y="457200"/>
            <a:ext cx="11277295" cy="914400"/>
          </a:xfrm>
          <a:prstGeom prst="rect">
            <a:avLst/>
          </a:prstGeom>
          <a:noFill/>
        </p:spPr>
        <p:txBody>
          <a:bodyPr wrap="square" tIns="0" bIns="0" lIns="0" rIns="0">
            <a:spAutoFit/>
          </a:bodyPr>
          <a:lstStyle/>
          <a:p>
            <a:pPr algn="l"/>
            <a:r>
              <a:rPr sz="2400" b="1">
                <a:solidFill>
                  <a:srgbClr val="1D2A30"/>
                </a:solidFill>
                <a:latin typeface="Georgia"/>
              </a:rPr>
              <a:t>FMCG Inventory Tracking Cuts Costly Stockouts and Excess Inventory by 20% to 30%</a:t>
            </a:r>
          </a:p>
        </p:txBody>
      </p:sp>
      <p:sp>
        <p:nvSpPr>
          <p:cNvPr id="3" name="Rectangle 2"/>
          <p:cNvSpPr/>
          <p:nvPr/>
        </p:nvSpPr>
        <p:spPr>
          <a:xfrm>
            <a:off x="457200" y="1188720"/>
            <a:ext cx="11277295" cy="254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 y="1645920"/>
            <a:ext cx="3474720" cy="4389120"/>
          </a:xfrm>
          <a:prstGeom prst="rect">
            <a:avLst/>
          </a:prstGeom>
          <a:solidFill>
            <a:srgbClr val="FAF9F5"/>
          </a:solidFill>
          <a:ln w="12700">
            <a:solidFill>
              <a:srgbClr val="D2D7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1645920"/>
            <a:ext cx="3474720" cy="548640"/>
          </a:xfrm>
          <a:prstGeom prst="rect">
            <a:avLst/>
          </a:prstGeom>
          <a:solidFill>
            <a:srgbClr val="1D2A3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AF9F5"/>
                </a:solidFill>
                <a:latin typeface="Arial"/>
              </a:rPr>
              <a:t>THE PROBLEM</a:t>
            </a:r>
          </a:p>
        </p:txBody>
      </p:sp>
      <p:sp>
        <p:nvSpPr>
          <p:cNvPr id="6" name="TextBox 5"/>
          <p:cNvSpPr txBox="1"/>
          <p:nvPr/>
        </p:nvSpPr>
        <p:spPr>
          <a:xfrm>
            <a:off x="594360" y="2286000"/>
            <a:ext cx="3200400" cy="3657600"/>
          </a:xfrm>
          <a:prstGeom prst="rect">
            <a:avLst/>
          </a:prstGeom>
          <a:noFill/>
        </p:spPr>
        <p:txBody>
          <a:bodyPr wrap="square">
            <a:spAutoFit/>
          </a:bodyPr>
          <a:lstStyle/>
          <a:p>
            <a:pPr>
              <a:spcAft>
                <a:spcPts val="1200"/>
              </a:spcAft>
            </a:pPr>
            <a:r>
              <a:rPr sz="1600" b="1">
                <a:solidFill>
                  <a:srgbClr val="1D2A30"/>
                </a:solidFill>
                <a:latin typeface="Georgia"/>
              </a:rPr>
              <a:t>Operational Bottlenecks</a:t>
            </a:r>
          </a:p>
          <a:p>
            <a:r>
              <a:rPr sz="1300">
                <a:solidFill>
                  <a:srgbClr val="1D2A30"/>
                </a:solidFill>
                <a:latin typeface="Arial"/>
              </a:rPr>
              <a:t>FMCG inventory processes suffer from massive stock tracking silos across depots and retail sites. Highly manual restocking workflows and blind replenishment systems lead to both costly stockouts and excessive warehousing overhead.</a:t>
            </a:r>
          </a:p>
        </p:txBody>
      </p:sp>
      <p:sp>
        <p:nvSpPr>
          <p:cNvPr id="7" name="Rectangle 6"/>
          <p:cNvSpPr/>
          <p:nvPr/>
        </p:nvSpPr>
        <p:spPr>
          <a:xfrm>
            <a:off x="4297680" y="1645920"/>
            <a:ext cx="3474720" cy="4389120"/>
          </a:xfrm>
          <a:prstGeom prst="rect">
            <a:avLst/>
          </a:prstGeom>
          <a:solidFill>
            <a:srgbClr val="FAF9F5"/>
          </a:solidFill>
          <a:ln w="12700">
            <a:solidFill>
              <a:srgbClr val="D2D7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297680" y="1645920"/>
            <a:ext cx="3474720" cy="548640"/>
          </a:xfrm>
          <a:prstGeom prst="rect">
            <a:avLst/>
          </a:prstGeom>
          <a:solidFill>
            <a:srgbClr val="137A7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AF9F5"/>
                </a:solidFill>
                <a:latin typeface="Arial"/>
              </a:rPr>
              <a:t>OUR SOLUTION</a:t>
            </a:r>
          </a:p>
        </p:txBody>
      </p:sp>
      <p:sp>
        <p:nvSpPr>
          <p:cNvPr id="9" name="TextBox 8"/>
          <p:cNvSpPr txBox="1"/>
          <p:nvPr/>
        </p:nvSpPr>
        <p:spPr>
          <a:xfrm>
            <a:off x="4434840" y="2286000"/>
            <a:ext cx="3200400" cy="3657600"/>
          </a:xfrm>
          <a:prstGeom prst="rect">
            <a:avLst/>
          </a:prstGeom>
          <a:noFill/>
        </p:spPr>
        <p:txBody>
          <a:bodyPr wrap="square">
            <a:spAutoFit/>
          </a:bodyPr>
          <a:lstStyle/>
          <a:p>
            <a:pPr>
              <a:spcAft>
                <a:spcPts val="1200"/>
              </a:spcAft>
            </a:pPr>
            <a:r>
              <a:rPr sz="1600" b="1">
                <a:solidFill>
                  <a:srgbClr val="137A7F"/>
                </a:solidFill>
                <a:latin typeface="Georgia"/>
              </a:rPr>
              <a:t>Automated Replenishment</a:t>
            </a:r>
          </a:p>
          <a:p>
            <a:r>
              <a:rPr sz="1300">
                <a:solidFill>
                  <a:srgbClr val="1D2A30"/>
                </a:solidFill>
                <a:latin typeface="Arial"/>
              </a:rPr>
              <a:t>We deploy AnshuAI's automated inventory registry to bridge retail and supply systems. The ServiceNow-powered platform auto-triggers replenishment orders and coordinates supplier communication based on predictive demand thresholds.</a:t>
            </a:r>
          </a:p>
        </p:txBody>
      </p:sp>
      <p:sp>
        <p:nvSpPr>
          <p:cNvPr id="10" name="Rectangle 9"/>
          <p:cNvSpPr/>
          <p:nvPr/>
        </p:nvSpPr>
        <p:spPr>
          <a:xfrm>
            <a:off x="8138160" y="1645920"/>
            <a:ext cx="3474720" cy="4389120"/>
          </a:xfrm>
          <a:prstGeom prst="rect">
            <a:avLst/>
          </a:prstGeom>
          <a:solidFill>
            <a:srgbClr val="FAF9F5"/>
          </a:solidFill>
          <a:ln w="12700">
            <a:solidFill>
              <a:srgbClr val="D2D7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138160" y="1645920"/>
            <a:ext cx="3474720" cy="54864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AF9F5"/>
                </a:solidFill>
                <a:latin typeface="Arial"/>
              </a:rPr>
              <a:t>MEASURABLE IMPACT</a:t>
            </a:r>
          </a:p>
        </p:txBody>
      </p:sp>
      <p:sp>
        <p:nvSpPr>
          <p:cNvPr id="12" name="TextBox 11"/>
          <p:cNvSpPr txBox="1"/>
          <p:nvPr/>
        </p:nvSpPr>
        <p:spPr>
          <a:xfrm>
            <a:off x="8275320" y="2286000"/>
            <a:ext cx="3200400" cy="3657600"/>
          </a:xfrm>
          <a:prstGeom prst="rect">
            <a:avLst/>
          </a:prstGeom>
          <a:noFill/>
        </p:spPr>
        <p:txBody>
          <a:bodyPr wrap="square">
            <a:spAutoFit/>
          </a:bodyPr>
          <a:lstStyle/>
          <a:p>
            <a:pPr>
              <a:spcAft>
                <a:spcPts val="1200"/>
              </a:spcAft>
            </a:pPr>
            <a:r>
              <a:rPr sz="1600" b="1">
                <a:solidFill>
                  <a:srgbClr val="D4AF37"/>
                </a:solidFill>
                <a:latin typeface="Georgia"/>
              </a:rPr>
              <a:t>Strategic Financial ROI</a:t>
            </a:r>
          </a:p>
          <a:p>
            <a:r>
              <a:rPr sz="1300">
                <a:solidFill>
                  <a:srgbClr val="1D2A30"/>
                </a:solidFill>
                <a:latin typeface="Arial"/>
              </a:rPr>
              <a:t>Our deployments yield a solid 20% to 30% reduction in stockouts and excess inventory, alongside a 15% to 25% drop in manual inventory management overhead, optimizing cash flow and accelerating fulfillment speeds.</a:t>
            </a:r>
          </a:p>
        </p:txBody>
      </p:sp>
      <p:sp>
        <p:nvSpPr>
          <p:cNvPr id="13" name="TextBox 12"/>
          <p:cNvSpPr txBox="1"/>
          <p:nvPr/>
        </p:nvSpPr>
        <p:spPr>
          <a:xfrm>
            <a:off x="457200" y="6400800"/>
            <a:ext cx="11277295" cy="365760"/>
          </a:xfrm>
          <a:prstGeom prst="rect">
            <a:avLst/>
          </a:prstGeom>
          <a:noFill/>
        </p:spPr>
        <p:txBody>
          <a:bodyPr wrap="square">
            <a:spAutoFit/>
          </a:bodyPr>
          <a:lstStyle/>
          <a:p>
            <a:pPr algn="r"/>
            <a:r>
              <a:rPr sz="1000">
                <a:solidFill>
                  <a:srgbClr val="6E7E85"/>
                </a:solidFill>
                <a:latin typeface="Arial"/>
              </a:rPr>
              <a:t>Source: Industrialisation of ServiceNow White Paper (p. 40-47)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457200" y="457200"/>
            <a:ext cx="11277295" cy="914400"/>
          </a:xfrm>
          <a:prstGeom prst="rect">
            <a:avLst/>
          </a:prstGeom>
          <a:noFill/>
        </p:spPr>
        <p:txBody>
          <a:bodyPr wrap="square" tIns="0" bIns="0" lIns="0" rIns="0">
            <a:spAutoFit/>
          </a:bodyPr>
          <a:lstStyle/>
          <a:p>
            <a:pPr algn="l"/>
            <a:r>
              <a:rPr sz="2400" b="1">
                <a:solidFill>
                  <a:srgbClr val="1D2A30"/>
                </a:solidFill>
                <a:latin typeface="Georgia"/>
              </a:rPr>
              <a:t>Enterprise Automation Drives Strategic ROI with 30% Manual Task Reductions</a:t>
            </a:r>
          </a:p>
        </p:txBody>
      </p:sp>
      <p:sp>
        <p:nvSpPr>
          <p:cNvPr id="3" name="Rectangle 2"/>
          <p:cNvSpPr/>
          <p:nvPr/>
        </p:nvSpPr>
        <p:spPr>
          <a:xfrm>
            <a:off x="457200" y="1188720"/>
            <a:ext cx="11277295" cy="254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 y="1645920"/>
            <a:ext cx="3474720" cy="4389120"/>
          </a:xfrm>
          <a:prstGeom prst="rect">
            <a:avLst/>
          </a:prstGeom>
          <a:solidFill>
            <a:srgbClr val="FAF9F5"/>
          </a:solidFill>
          <a:ln w="12700">
            <a:solidFill>
              <a:srgbClr val="D2D7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1645920"/>
            <a:ext cx="3474720" cy="109728"/>
          </a:xfrm>
          <a:prstGeom prst="rect">
            <a:avLst/>
          </a:prstGeom>
          <a:solidFill>
            <a:srgbClr val="137A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1920240"/>
            <a:ext cx="3200400" cy="4023360"/>
          </a:xfrm>
          <a:prstGeom prst="rect">
            <a:avLst/>
          </a:prstGeom>
          <a:noFill/>
        </p:spPr>
        <p:txBody>
          <a:bodyPr wrap="square">
            <a:spAutoFit/>
          </a:bodyPr>
          <a:lstStyle/>
          <a:p>
            <a:pPr>
              <a:spcAft>
                <a:spcPts val="400"/>
              </a:spcAft>
            </a:pPr>
            <a:r>
              <a:rPr sz="3000" b="1">
                <a:solidFill>
                  <a:srgbClr val="137A7F"/>
                </a:solidFill>
                <a:latin typeface="Arial"/>
              </a:rPr>
              <a:t>30% Reduction</a:t>
            </a:r>
          </a:p>
          <a:p>
            <a:pPr>
              <a:spcAft>
                <a:spcPts val="1200"/>
              </a:spcAft>
            </a:pPr>
            <a:r>
              <a:rPr sz="1600" b="1">
                <a:solidFill>
                  <a:srgbClr val="1D2A30"/>
                </a:solidFill>
                <a:latin typeface="Georgia"/>
              </a:rPr>
              <a:t>Operational Efficiency</a:t>
            </a:r>
          </a:p>
          <a:p>
            <a:r>
              <a:rPr sz="1200">
                <a:solidFill>
                  <a:srgbClr val="6E7E85"/>
                </a:solidFill>
                <a:latin typeface="Arial"/>
              </a:rPr>
              <a:t>By automating routine admin tasks and triaging workflows, we eliminate up to 30% of manual effort across clinical, operational, and administrative teams, significantly boosting staff productivity and cutting support overhead.</a:t>
            </a:r>
          </a:p>
        </p:txBody>
      </p:sp>
      <p:sp>
        <p:nvSpPr>
          <p:cNvPr id="7" name="Rectangle 6"/>
          <p:cNvSpPr/>
          <p:nvPr/>
        </p:nvSpPr>
        <p:spPr>
          <a:xfrm>
            <a:off x="4297680" y="1645920"/>
            <a:ext cx="3474720" cy="4389120"/>
          </a:xfrm>
          <a:prstGeom prst="rect">
            <a:avLst/>
          </a:prstGeom>
          <a:solidFill>
            <a:srgbClr val="FAF9F5"/>
          </a:solidFill>
          <a:ln w="12700">
            <a:solidFill>
              <a:srgbClr val="D2D7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297680" y="1645920"/>
            <a:ext cx="3474720" cy="10972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434840" y="1920240"/>
            <a:ext cx="3200400" cy="4023360"/>
          </a:xfrm>
          <a:prstGeom prst="rect">
            <a:avLst/>
          </a:prstGeom>
          <a:noFill/>
        </p:spPr>
        <p:txBody>
          <a:bodyPr wrap="square">
            <a:spAutoFit/>
          </a:bodyPr>
          <a:lstStyle/>
          <a:p>
            <a:pPr>
              <a:spcAft>
                <a:spcPts val="400"/>
              </a:spcAft>
            </a:pPr>
            <a:r>
              <a:rPr sz="3000" b="1">
                <a:solidFill>
                  <a:srgbClr val="D4AF37"/>
                </a:solidFill>
                <a:latin typeface="Arial"/>
              </a:rPr>
              <a:t>Zero Exposure</a:t>
            </a:r>
          </a:p>
          <a:p>
            <a:pPr>
              <a:spcAft>
                <a:spcPts val="1200"/>
              </a:spcAft>
            </a:pPr>
            <a:r>
              <a:rPr sz="1600" b="1">
                <a:solidFill>
                  <a:srgbClr val="1D2A30"/>
                </a:solidFill>
                <a:latin typeface="Georgia"/>
              </a:rPr>
              <a:t>Compliance &amp; Risk Mitigation</a:t>
            </a:r>
          </a:p>
          <a:p>
            <a:r>
              <a:rPr sz="1200">
                <a:solidFill>
                  <a:srgbClr val="6E7E85"/>
                </a:solidFill>
                <a:latin typeface="Arial"/>
              </a:rPr>
              <a:t>AnshuAI establishes integrated, automated audit trails and real-time dashboards natively within ServiceNow. This ensures complete adherence to complex regulations like HIPAA or GDPR, eliminating manual documentation errors and fine exposures.</a:t>
            </a:r>
          </a:p>
        </p:txBody>
      </p:sp>
      <p:sp>
        <p:nvSpPr>
          <p:cNvPr id="10" name="Rectangle 9"/>
          <p:cNvSpPr/>
          <p:nvPr/>
        </p:nvSpPr>
        <p:spPr>
          <a:xfrm>
            <a:off x="8138160" y="1645920"/>
            <a:ext cx="3474720" cy="4389120"/>
          </a:xfrm>
          <a:prstGeom prst="rect">
            <a:avLst/>
          </a:prstGeom>
          <a:solidFill>
            <a:srgbClr val="FAF9F5"/>
          </a:solidFill>
          <a:ln w="12700">
            <a:solidFill>
              <a:srgbClr val="D2D7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138160" y="1645920"/>
            <a:ext cx="3474720" cy="109728"/>
          </a:xfrm>
          <a:prstGeom prst="rect">
            <a:avLst/>
          </a:prstGeom>
          <a:solidFill>
            <a:srgbClr val="1D2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75320" y="1920240"/>
            <a:ext cx="3200400" cy="4023360"/>
          </a:xfrm>
          <a:prstGeom prst="rect">
            <a:avLst/>
          </a:prstGeom>
          <a:noFill/>
        </p:spPr>
        <p:txBody>
          <a:bodyPr wrap="square">
            <a:spAutoFit/>
          </a:bodyPr>
          <a:lstStyle/>
          <a:p>
            <a:pPr>
              <a:spcAft>
                <a:spcPts val="400"/>
              </a:spcAft>
            </a:pPr>
            <a:r>
              <a:rPr sz="3000" b="1">
                <a:solidFill>
                  <a:srgbClr val="1D2A30"/>
                </a:solidFill>
                <a:latin typeface="Arial"/>
              </a:rPr>
              <a:t>Elevated NPS</a:t>
            </a:r>
          </a:p>
          <a:p>
            <a:pPr>
              <a:spcAft>
                <a:spcPts val="1200"/>
              </a:spcAft>
            </a:pPr>
            <a:r>
              <a:rPr sz="1600" b="1">
                <a:solidFill>
                  <a:srgbClr val="1D2A30"/>
                </a:solidFill>
                <a:latin typeface="Georgia"/>
              </a:rPr>
              <a:t>Enhanced Experience</a:t>
            </a:r>
          </a:p>
          <a:p>
            <a:r>
              <a:rPr sz="1200">
                <a:solidFill>
                  <a:srgbClr val="6E7E85"/>
                </a:solidFill>
                <a:latin typeface="Arial"/>
              </a:rPr>
              <a:t>By deploying intuitive self-service portals, automated notifications, and AI-powered virtual assistants, we deliver incredibly fast, highly transparent resolutions that dramatically lift employee and customer satisfaction scores.</a:t>
            </a:r>
          </a:p>
        </p:txBody>
      </p:sp>
      <p:sp>
        <p:nvSpPr>
          <p:cNvPr id="13" name="TextBox 12"/>
          <p:cNvSpPr txBox="1"/>
          <p:nvPr/>
        </p:nvSpPr>
        <p:spPr>
          <a:xfrm>
            <a:off x="457200" y="6400800"/>
            <a:ext cx="11277295" cy="365760"/>
          </a:xfrm>
          <a:prstGeom prst="rect">
            <a:avLst/>
          </a:prstGeom>
          <a:noFill/>
        </p:spPr>
        <p:txBody>
          <a:bodyPr wrap="square">
            <a:spAutoFit/>
          </a:bodyPr>
          <a:lstStyle/>
          <a:p>
            <a:pPr algn="r"/>
            <a:r>
              <a:rPr sz="1000">
                <a:solidFill>
                  <a:srgbClr val="6E7E85"/>
                </a:solidFill>
                <a:latin typeface="Arial"/>
              </a:rPr>
              <a:t>Source: White Paper: Empowering Healthcare Agility (p. 4) &amp; ServiceNow ROI Models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457200" y="457200"/>
            <a:ext cx="11277295" cy="914400"/>
          </a:xfrm>
          <a:prstGeom prst="rect">
            <a:avLst/>
          </a:prstGeom>
          <a:noFill/>
        </p:spPr>
        <p:txBody>
          <a:bodyPr wrap="square" tIns="0" bIns="0" lIns="0" rIns="0">
            <a:spAutoFit/>
          </a:bodyPr>
          <a:lstStyle/>
          <a:p>
            <a:pPr algn="l"/>
            <a:r>
              <a:rPr sz="2400" b="1">
                <a:solidFill>
                  <a:srgbClr val="1D2A30"/>
                </a:solidFill>
                <a:latin typeface="Georgia"/>
              </a:rPr>
              <a:t>Our 5-Step Proven Roadmap Delivers Live Deployments in 8 to 12 Weeks</a:t>
            </a:r>
          </a:p>
        </p:txBody>
      </p:sp>
      <p:sp>
        <p:nvSpPr>
          <p:cNvPr id="3" name="Rectangle 2"/>
          <p:cNvSpPr/>
          <p:nvPr/>
        </p:nvSpPr>
        <p:spPr>
          <a:xfrm>
            <a:off x="457200" y="1188720"/>
            <a:ext cx="11277295" cy="254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 y="2011680"/>
            <a:ext cx="1993392" cy="3840480"/>
          </a:xfrm>
          <a:prstGeom prst="rect">
            <a:avLst/>
          </a:prstGeom>
          <a:solidFill>
            <a:srgbClr val="FAF9F5"/>
          </a:solidFill>
          <a:ln w="12700">
            <a:solidFill>
              <a:srgbClr val="D2D7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2011680"/>
            <a:ext cx="1993392" cy="109728"/>
          </a:xfrm>
          <a:prstGeom prst="rect">
            <a:avLst/>
          </a:prstGeom>
          <a:solidFill>
            <a:srgbClr val="137A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2194560"/>
            <a:ext cx="1810512" cy="3566160"/>
          </a:xfrm>
          <a:prstGeom prst="rect">
            <a:avLst/>
          </a:prstGeom>
          <a:noFill/>
        </p:spPr>
        <p:txBody>
          <a:bodyPr wrap="square">
            <a:spAutoFit/>
          </a:bodyPr>
          <a:lstStyle/>
          <a:p>
            <a:pPr>
              <a:spcAft>
                <a:spcPts val="200"/>
              </a:spcAft>
            </a:pPr>
            <a:r>
              <a:rPr sz="1200" b="1">
                <a:solidFill>
                  <a:srgbClr val="137A7F"/>
                </a:solidFill>
                <a:latin typeface="Arial"/>
              </a:rPr>
              <a:t>Phase 1</a:t>
            </a:r>
          </a:p>
          <a:p>
            <a:pPr>
              <a:spcAft>
                <a:spcPts val="1000"/>
              </a:spcAft>
            </a:pPr>
            <a:r>
              <a:rPr sz="1500" b="1">
                <a:solidFill>
                  <a:srgbClr val="1D2A30"/>
                </a:solidFill>
                <a:latin typeface="Georgia"/>
              </a:rPr>
              <a:t>Value Assessment</a:t>
            </a:r>
          </a:p>
          <a:p>
            <a:r>
              <a:rPr sz="1050">
                <a:solidFill>
                  <a:srgbClr val="6E7E85"/>
                </a:solidFill>
                <a:latin typeface="Arial"/>
              </a:rPr>
              <a:t>We conduct a 2-week deep dive to audit existing processes, identify specific manual friction points, map compliance gaps, and build a quantified commercial business case.</a:t>
            </a:r>
          </a:p>
        </p:txBody>
      </p:sp>
      <p:sp>
        <p:nvSpPr>
          <p:cNvPr id="7" name="Rectangle 6"/>
          <p:cNvSpPr/>
          <p:nvPr/>
        </p:nvSpPr>
        <p:spPr>
          <a:xfrm>
            <a:off x="2633472" y="2011680"/>
            <a:ext cx="1993392" cy="3840480"/>
          </a:xfrm>
          <a:prstGeom prst="rect">
            <a:avLst/>
          </a:prstGeom>
          <a:solidFill>
            <a:srgbClr val="FAF9F5"/>
          </a:solidFill>
          <a:ln w="12700">
            <a:solidFill>
              <a:srgbClr val="D2D7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633472" y="2011680"/>
            <a:ext cx="1993392" cy="10972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724912" y="2194560"/>
            <a:ext cx="1810512" cy="3566160"/>
          </a:xfrm>
          <a:prstGeom prst="rect">
            <a:avLst/>
          </a:prstGeom>
          <a:noFill/>
        </p:spPr>
        <p:txBody>
          <a:bodyPr wrap="square">
            <a:spAutoFit/>
          </a:bodyPr>
          <a:lstStyle/>
          <a:p>
            <a:pPr>
              <a:spcAft>
                <a:spcPts val="200"/>
              </a:spcAft>
            </a:pPr>
            <a:r>
              <a:rPr sz="1200" b="1">
                <a:solidFill>
                  <a:srgbClr val="D4AF37"/>
                </a:solidFill>
                <a:latin typeface="Arial"/>
              </a:rPr>
              <a:t>Phase 2</a:t>
            </a:r>
          </a:p>
          <a:p>
            <a:pPr>
              <a:spcAft>
                <a:spcPts val="1000"/>
              </a:spcAft>
            </a:pPr>
            <a:r>
              <a:rPr sz="1500" b="1">
                <a:solidFill>
                  <a:srgbClr val="1D2A30"/>
                </a:solidFill>
                <a:latin typeface="Georgia"/>
              </a:rPr>
              <a:t>Strategic Design</a:t>
            </a:r>
          </a:p>
          <a:p>
            <a:r>
              <a:rPr sz="1050">
                <a:solidFill>
                  <a:srgbClr val="6E7E85"/>
                </a:solidFill>
                <a:latin typeface="Arial"/>
              </a:rPr>
              <a:t>We co-design streamlined, integrated ServiceNow workflows and custom AI logic designed specifically around your unique operational environment and regulatory rules.</a:t>
            </a:r>
          </a:p>
        </p:txBody>
      </p:sp>
      <p:sp>
        <p:nvSpPr>
          <p:cNvPr id="10" name="Rectangle 9"/>
          <p:cNvSpPr/>
          <p:nvPr/>
        </p:nvSpPr>
        <p:spPr>
          <a:xfrm>
            <a:off x="4809744" y="2011680"/>
            <a:ext cx="1993392" cy="3840480"/>
          </a:xfrm>
          <a:prstGeom prst="rect">
            <a:avLst/>
          </a:prstGeom>
          <a:solidFill>
            <a:srgbClr val="FAF9F5"/>
          </a:solidFill>
          <a:ln w="12700">
            <a:solidFill>
              <a:srgbClr val="D2D7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809744" y="2011680"/>
            <a:ext cx="1993392" cy="109728"/>
          </a:xfrm>
          <a:prstGeom prst="rect">
            <a:avLst/>
          </a:prstGeom>
          <a:solidFill>
            <a:srgbClr val="137A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901184" y="2194560"/>
            <a:ext cx="1810512" cy="3566160"/>
          </a:xfrm>
          <a:prstGeom prst="rect">
            <a:avLst/>
          </a:prstGeom>
          <a:noFill/>
        </p:spPr>
        <p:txBody>
          <a:bodyPr wrap="square">
            <a:spAutoFit/>
          </a:bodyPr>
          <a:lstStyle/>
          <a:p>
            <a:pPr>
              <a:spcAft>
                <a:spcPts val="200"/>
              </a:spcAft>
            </a:pPr>
            <a:r>
              <a:rPr sz="1200" b="1">
                <a:solidFill>
                  <a:srgbClr val="137A7F"/>
                </a:solidFill>
                <a:latin typeface="Arial"/>
              </a:rPr>
              <a:t>Phase 3</a:t>
            </a:r>
          </a:p>
          <a:p>
            <a:pPr>
              <a:spcAft>
                <a:spcPts val="1000"/>
              </a:spcAft>
            </a:pPr>
            <a:r>
              <a:rPr sz="1500" b="1">
                <a:solidFill>
                  <a:srgbClr val="1D2A30"/>
                </a:solidFill>
                <a:latin typeface="Georgia"/>
              </a:rPr>
              <a:t>License Tuning</a:t>
            </a:r>
          </a:p>
          <a:p>
            <a:r>
              <a:rPr sz="1050">
                <a:solidFill>
                  <a:srgbClr val="6E7E85"/>
                </a:solidFill>
                <a:latin typeface="Arial"/>
              </a:rPr>
              <a:t>We perform a detailed platform license audit, aligning your ServiceNow entitlements and subscriptions with your exact deployment objectives to ensure maximum software yield.</a:t>
            </a:r>
          </a:p>
        </p:txBody>
      </p:sp>
      <p:sp>
        <p:nvSpPr>
          <p:cNvPr id="13" name="Rectangle 12"/>
          <p:cNvSpPr/>
          <p:nvPr/>
        </p:nvSpPr>
        <p:spPr>
          <a:xfrm>
            <a:off x="6986016" y="2011680"/>
            <a:ext cx="1993392" cy="3840480"/>
          </a:xfrm>
          <a:prstGeom prst="rect">
            <a:avLst/>
          </a:prstGeom>
          <a:solidFill>
            <a:srgbClr val="FAF9F5"/>
          </a:solidFill>
          <a:ln w="12700">
            <a:solidFill>
              <a:srgbClr val="D2D7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986016" y="2011680"/>
            <a:ext cx="1993392" cy="10972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077456" y="2194560"/>
            <a:ext cx="1810512" cy="3566160"/>
          </a:xfrm>
          <a:prstGeom prst="rect">
            <a:avLst/>
          </a:prstGeom>
          <a:noFill/>
        </p:spPr>
        <p:txBody>
          <a:bodyPr wrap="square">
            <a:spAutoFit/>
          </a:bodyPr>
          <a:lstStyle/>
          <a:p>
            <a:pPr>
              <a:spcAft>
                <a:spcPts val="200"/>
              </a:spcAft>
            </a:pPr>
            <a:r>
              <a:rPr sz="1200" b="1">
                <a:solidFill>
                  <a:srgbClr val="D4AF37"/>
                </a:solidFill>
                <a:latin typeface="Arial"/>
              </a:rPr>
              <a:t>Phase 4</a:t>
            </a:r>
          </a:p>
          <a:p>
            <a:pPr>
              <a:spcAft>
                <a:spcPts val="1000"/>
              </a:spcAft>
            </a:pPr>
            <a:r>
              <a:rPr sz="1500" b="1">
                <a:solidFill>
                  <a:srgbClr val="1D2A30"/>
                </a:solidFill>
                <a:latin typeface="Georgia"/>
              </a:rPr>
              <a:t>Agile Deployment</a:t>
            </a:r>
          </a:p>
          <a:p>
            <a:r>
              <a:rPr sz="1050">
                <a:solidFill>
                  <a:srgbClr val="6E7E85"/>
                </a:solidFill>
                <a:latin typeface="Arial"/>
              </a:rPr>
              <a:t>Over a 4-to-6 week sprint, we rapidly implement custom portals, active automated workflows, secure API integrations, and SLA structures with absolutely zero disruption.</a:t>
            </a:r>
          </a:p>
        </p:txBody>
      </p:sp>
      <p:sp>
        <p:nvSpPr>
          <p:cNvPr id="16" name="Rectangle 15"/>
          <p:cNvSpPr/>
          <p:nvPr/>
        </p:nvSpPr>
        <p:spPr>
          <a:xfrm>
            <a:off x="9162288" y="2011680"/>
            <a:ext cx="1993392" cy="3840480"/>
          </a:xfrm>
          <a:prstGeom prst="rect">
            <a:avLst/>
          </a:prstGeom>
          <a:solidFill>
            <a:srgbClr val="FAF9F5"/>
          </a:solidFill>
          <a:ln w="12700">
            <a:solidFill>
              <a:srgbClr val="D2D7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9162288" y="2011680"/>
            <a:ext cx="1993392" cy="109728"/>
          </a:xfrm>
          <a:prstGeom prst="rect">
            <a:avLst/>
          </a:prstGeom>
          <a:solidFill>
            <a:srgbClr val="137A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253728" y="2194560"/>
            <a:ext cx="1810512" cy="3566160"/>
          </a:xfrm>
          <a:prstGeom prst="rect">
            <a:avLst/>
          </a:prstGeom>
          <a:noFill/>
        </p:spPr>
        <p:txBody>
          <a:bodyPr wrap="square">
            <a:spAutoFit/>
          </a:bodyPr>
          <a:lstStyle/>
          <a:p>
            <a:pPr>
              <a:spcAft>
                <a:spcPts val="200"/>
              </a:spcAft>
            </a:pPr>
            <a:r>
              <a:rPr sz="1200" b="1">
                <a:solidFill>
                  <a:srgbClr val="137A7F"/>
                </a:solidFill>
                <a:latin typeface="Arial"/>
              </a:rPr>
              <a:t>Phase 5</a:t>
            </a:r>
          </a:p>
          <a:p>
            <a:pPr>
              <a:spcAft>
                <a:spcPts val="1000"/>
              </a:spcAft>
            </a:pPr>
            <a:r>
              <a:rPr sz="1500" b="1">
                <a:solidFill>
                  <a:srgbClr val="1D2A30"/>
                </a:solidFill>
                <a:latin typeface="Georgia"/>
              </a:rPr>
              <a:t>Enablement &amp; Care</a:t>
            </a:r>
          </a:p>
          <a:p>
            <a:r>
              <a:rPr sz="1050">
                <a:solidFill>
                  <a:srgbClr val="6E7E85"/>
                </a:solidFill>
                <a:latin typeface="Arial"/>
              </a:rPr>
              <a:t>We conduct full administrative and staff training, activate performance monitoring, and establish ongoing model iterations to drive continuous operational innovation.</a:t>
            </a:r>
          </a:p>
        </p:txBody>
      </p:sp>
      <p:sp>
        <p:nvSpPr>
          <p:cNvPr id="19" name="TextBox 18"/>
          <p:cNvSpPr txBox="1"/>
          <p:nvPr/>
        </p:nvSpPr>
        <p:spPr>
          <a:xfrm>
            <a:off x="457200" y="6400800"/>
            <a:ext cx="11277295" cy="365760"/>
          </a:xfrm>
          <a:prstGeom prst="rect">
            <a:avLst/>
          </a:prstGeom>
          <a:noFill/>
        </p:spPr>
        <p:txBody>
          <a:bodyPr wrap="square">
            <a:spAutoFit/>
          </a:bodyPr>
          <a:lstStyle/>
          <a:p>
            <a:pPr algn="r"/>
            <a:r>
              <a:rPr sz="1000">
                <a:solidFill>
                  <a:srgbClr val="6E7E85"/>
                </a:solidFill>
                <a:latin typeface="Arial"/>
              </a:rPr>
              <a:t>Source: AnshuAI Deployment Framework (8-12 Weeks Industry Accelerator Roadmap)</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71A24"/>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71600" y="1371600"/>
            <a:ext cx="9448495" cy="4389120"/>
          </a:xfrm>
          <a:prstGeom prst="rect">
            <a:avLst/>
          </a:prstGeom>
          <a:noFill/>
        </p:spPr>
        <p:txBody>
          <a:bodyPr wrap="square">
            <a:spAutoFit/>
          </a:bodyPr>
          <a:lstStyle/>
          <a:p>
            <a:pPr algn="ctr">
              <a:spcAft>
                <a:spcPts val="1200"/>
              </a:spcAft>
            </a:pPr>
            <a:r>
              <a:rPr sz="1400" b="1">
                <a:solidFill>
                  <a:srgbClr val="D4AF37"/>
                </a:solidFill>
                <a:latin typeface="Arial"/>
              </a:rPr>
              <a:t>THE PATH FORWARD</a:t>
            </a:r>
          </a:p>
          <a:p>
            <a:pPr algn="ctr">
              <a:spcAft>
                <a:spcPts val="2000"/>
              </a:spcAft>
            </a:pPr>
            <a:r>
              <a:rPr sz="3600" b="1">
                <a:solidFill>
                  <a:srgbClr val="FAF9F5"/>
                </a:solidFill>
                <a:latin typeface="Georgia"/>
              </a:rPr>
              <a:t>Let's Co-Create a Healthier, More Efficient Tomorrow.</a:t>
            </a:r>
          </a:p>
          <a:p>
            <a:pPr algn="ctr">
              <a:spcAft>
                <a:spcPts val="3600"/>
              </a:spcAft>
            </a:pPr>
            <a:r>
              <a:rPr sz="1600">
                <a:solidFill>
                  <a:srgbClr val="FAF9F5"/>
                </a:solidFill>
                <a:latin typeface="Arial"/>
              </a:rPr>
              <a:t>AnshuAI brings certified platform architects, data scientists, and specialized industry accelerators to speed up your time-to-value and ensure absolute operational resilience.</a:t>
            </a:r>
          </a:p>
          <a:p>
            <a:pPr algn="ctr">
              <a:spcAft>
                <a:spcPts val="2400"/>
              </a:spcAft>
            </a:pPr>
            <a:r>
              <a:rPr sz="1600" b="1">
                <a:solidFill>
                  <a:srgbClr val="D4AF37"/>
                </a:solidFill>
                <a:latin typeface="Arial"/>
              </a:rPr>
              <a:t>Contact the AnshuAI Team to schedule your complimentary Value Assessment.</a:t>
            </a:r>
          </a:p>
        </p:txBody>
      </p:sp>
      <p:sp>
        <p:nvSpPr>
          <p:cNvPr id="4" name="TextBox 3"/>
          <p:cNvSpPr txBox="1"/>
          <p:nvPr/>
        </p:nvSpPr>
        <p:spPr>
          <a:xfrm>
            <a:off x="457200" y="6400800"/>
            <a:ext cx="11277295" cy="365760"/>
          </a:xfrm>
          <a:prstGeom prst="rect">
            <a:avLst/>
          </a:prstGeom>
          <a:noFill/>
        </p:spPr>
        <p:txBody>
          <a:bodyPr wrap="square">
            <a:spAutoFit/>
          </a:bodyPr>
          <a:lstStyle/>
          <a:p>
            <a:pPr algn="r"/>
            <a:r>
              <a:rPr sz="1000">
                <a:solidFill>
                  <a:srgbClr val="D4AF37"/>
                </a:solidFill>
                <a:latin typeface="Arial"/>
              </a:rPr>
              <a:t>Source: AnshuAI - Intelligent Automation &amp; Enterprise AI Solutions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