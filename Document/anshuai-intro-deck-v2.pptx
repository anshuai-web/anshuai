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A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095390" y="0"/>
            <a:ext cx="6096304" cy="6858000"/>
          </a:xfrm>
          <a:prstGeom prst="rect">
            <a:avLst/>
          </a:prstGeom>
          <a:solidFill>
            <a:srgbClr val="0C1A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011680"/>
            <a:ext cx="475488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5600" b="1">
                <a:solidFill>
                  <a:srgbClr val="1B242A"/>
                </a:solidFill>
                <a:latin typeface="Georgia"/>
              </a:defRPr>
            </a:pPr>
            <a:r>
              <a:t>AnshuAI</a:t>
            </a:r>
          </a:p>
          <a:p>
            <a:pPr>
              <a:spcAft>
                <a:spcPts val="2400"/>
              </a:spcAft>
              <a:defRPr sz="2400">
                <a:solidFill>
                  <a:srgbClr val="00A896"/>
                </a:solidFill>
                <a:latin typeface="Georgia"/>
              </a:defRPr>
            </a:pPr>
            <a:r>
              <a:t>Intelligence Illuminated</a:t>
            </a:r>
          </a:p>
          <a:p>
            <a:pPr>
              <a:spcAft>
                <a:spcPts val="800"/>
              </a:spcAft>
              <a:defRPr sz="1600" b="1">
                <a:solidFill>
                  <a:srgbClr val="6C7A89"/>
                </a:solidFill>
                <a:latin typeface="Calibri"/>
              </a:defRPr>
            </a:pPr>
            <a:r>
              <a:t>Intelligent Automation &amp; Enterprise AI Solutions</a:t>
            </a:r>
          </a:p>
          <a:p>
            <a:pPr>
              <a:defRPr sz="1400">
                <a:solidFill>
                  <a:srgbClr val="6C7A89"/>
                </a:solidFill>
                <a:latin typeface="Calibri"/>
              </a:defRPr>
            </a:pPr>
            <a:r>
              <a:t>Accelerating Business Transformation through ServiceNow Excellence &amp; Bespoke AI</a:t>
            </a:r>
          </a:p>
        </p:txBody>
      </p:sp>
      <p:sp>
        <p:nvSpPr>
          <p:cNvPr id="4" name="Oval 3"/>
          <p:cNvSpPr/>
          <p:nvPr/>
        </p:nvSpPr>
        <p:spPr>
          <a:xfrm>
            <a:off x="8412480" y="2286000"/>
            <a:ext cx="2286000" cy="2286000"/>
          </a:xfrm>
          <a:prstGeom prst="ellipse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7589520" y="2468880"/>
            <a:ext cx="1828800" cy="1828800"/>
          </a:xfrm>
          <a:prstGeom prst="ellipse">
            <a:avLst/>
          </a:prstGeom>
          <a:solidFill>
            <a:srgbClr val="00A8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0" y="2011680"/>
            <a:ext cx="1645920" cy="1645920"/>
          </a:xfrm>
          <a:prstGeom prst="ellipse">
            <a:avLst/>
          </a:prstGeom>
          <a:solidFill>
            <a:srgbClr val="7209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0" y="4754880"/>
            <a:ext cx="2743200" cy="457200"/>
          </a:xfrm>
          <a:prstGeom prst="roundRect">
            <a:avLst/>
          </a:prstGeom>
          <a:solidFill>
            <a:srgbClr val="00A8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CFAF6"/>
                </a:solidFill>
                <a:latin typeface="Calibri"/>
              </a:defRPr>
            </a:pPr>
            <a:r>
              <a:t>EXPLORE SOLUTIONS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A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800" b="1">
                <a:solidFill>
                  <a:srgbClr val="1B242A"/>
                </a:solidFill>
                <a:latin typeface="Georgia"/>
              </a:defRPr>
            </a:pPr>
            <a:r>
              <a:t>Who We Are &amp; Our Mission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51560"/>
            <a:ext cx="1828800" cy="38100"/>
          </a:xfrm>
          <a:prstGeom prst="rect">
            <a:avLst/>
          </a:prstGeom>
          <a:solidFill>
            <a:srgbClr val="00A8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828800"/>
            <a:ext cx="5029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0"/>
              </a:spcAft>
              <a:defRPr sz="3200" b="1">
                <a:solidFill>
                  <a:srgbClr val="1B242A"/>
                </a:solidFill>
                <a:latin typeface="Georgia"/>
              </a:defRPr>
            </a:pPr>
            <a:r>
              <a:t>Operational excellence is no longer optional—it's a strategic imperative.</a:t>
            </a:r>
          </a:p>
          <a:p>
            <a:pPr>
              <a:defRPr sz="1500">
                <a:solidFill>
                  <a:srgbClr val="6C7A89"/>
                </a:solidFill>
                <a:latin typeface="Calibri"/>
              </a:defRPr>
            </a:pPr>
            <a:r>
              <a:t>AnshuAI is built to break down administrative silos, automate manual processes, and establish an agile, data-driven framework. We empower enterprises to unlock transparency and reach their highest operational potential.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0" y="1828800"/>
            <a:ext cx="5212080" cy="1645920"/>
          </a:xfrm>
          <a:prstGeom prst="roundRect">
            <a:avLst/>
          </a:prstGeom>
          <a:solidFill>
            <a:srgbClr val="F0F4F8"/>
          </a:solidFill>
          <a:ln w="19050">
            <a:solidFill>
              <a:srgbClr val="00A8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182880"/>
          <a:lstStyle/>
          <a:p>
            <a:pPr algn="ctr">
              <a:spcAft>
                <a:spcPts val="400"/>
              </a:spcAft>
              <a:defRPr sz="1800" b="1">
                <a:solidFill>
                  <a:srgbClr val="1B242A"/>
                </a:solidFill>
                <a:latin typeface="Georgia"/>
              </a:defRPr>
            </a:pPr>
            <a:r>
              <a:t>ServiceNow Mastered</a:t>
            </a:r>
          </a:p>
          <a:p>
            <a:pPr>
              <a:defRPr sz="1300">
                <a:solidFill>
                  <a:srgbClr val="6C7A89"/>
                </a:solidFill>
                <a:latin typeface="Calibri"/>
              </a:defRPr>
            </a:pPr>
            <a:r>
              <a:t>Industrializing workflows to centralize operations, secure audit trails, and create a single, transparent source of truth.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3840480"/>
            <a:ext cx="5212080" cy="1645920"/>
          </a:xfrm>
          <a:prstGeom prst="roundRect">
            <a:avLst/>
          </a:prstGeom>
          <a:solidFill>
            <a:srgbClr val="F0F4F8"/>
          </a:solidFill>
          <a:ln w="19050">
            <a:solidFill>
              <a:srgbClr val="7209B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182880"/>
          <a:lstStyle/>
          <a:p>
            <a:pPr algn="ctr">
              <a:spcAft>
                <a:spcPts val="400"/>
              </a:spcAft>
              <a:defRPr sz="1800" b="1">
                <a:solidFill>
                  <a:srgbClr val="1B242A"/>
                </a:solidFill>
                <a:latin typeface="Georgia"/>
              </a:defRPr>
            </a:pPr>
            <a:r>
              <a:t>Bespoke Enterprise AI</a:t>
            </a:r>
          </a:p>
          <a:p>
            <a:pPr>
              <a:defRPr sz="1300">
                <a:solidFill>
                  <a:srgbClr val="6C7A89"/>
                </a:solidFill>
                <a:latin typeface="Calibri"/>
              </a:defRPr>
            </a:pPr>
            <a:r>
              <a:t>Embedding advanced, tailored intelligence directly into operational pipelines to automate routine tasks and predict business outcomes.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A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800" b="1">
                <a:solidFill>
                  <a:srgbClr val="1B242A"/>
                </a:solidFill>
                <a:latin typeface="Georgia"/>
              </a:defRPr>
            </a:pPr>
            <a:r>
              <a:t>What is Holding Organizations Back?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51560"/>
            <a:ext cx="1828800" cy="38100"/>
          </a:xfrm>
          <a:prstGeom prst="rect">
            <a:avLst/>
          </a:prstGeom>
          <a:solidFill>
            <a:srgbClr val="00A8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31520" y="1828800"/>
            <a:ext cx="2468880" cy="411480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1828800"/>
            <a:ext cx="2468880" cy="137160"/>
          </a:xfrm>
          <a:prstGeom prst="rect">
            <a:avLst/>
          </a:prstGeom>
          <a:solidFill>
            <a:srgbClr val="00A8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2194560"/>
            <a:ext cx="210312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800" b="1">
                <a:solidFill>
                  <a:srgbClr val="00A896"/>
                </a:solidFill>
                <a:latin typeface="Georgia"/>
              </a:defRPr>
            </a:pPr>
            <a:r>
              <a:t>01</a:t>
            </a:r>
          </a:p>
          <a:p>
            <a:pPr>
              <a:spcAft>
                <a:spcPts val="800"/>
              </a:spcAft>
              <a:defRPr sz="1600" b="1">
                <a:solidFill>
                  <a:srgbClr val="1B242A"/>
                </a:solidFill>
                <a:latin typeface="Georgia"/>
              </a:defRPr>
            </a:pPr>
            <a:r>
              <a:t>Decentralized Information</a:t>
            </a:r>
          </a:p>
          <a:p>
            <a:pPr>
              <a:defRPr sz="1300">
                <a:solidFill>
                  <a:srgbClr val="6C7A89"/>
                </a:solidFill>
                <a:latin typeface="Calibri"/>
              </a:defRPr>
            </a:pPr>
            <a:r>
              <a:t>Data scattered across disparate administrative and clinical silos, creating a total lack of visibility.</a:t>
            </a:r>
          </a:p>
        </p:txBody>
      </p:sp>
      <p:sp>
        <p:nvSpPr>
          <p:cNvPr id="7" name="Rectangle 6"/>
          <p:cNvSpPr/>
          <p:nvPr/>
        </p:nvSpPr>
        <p:spPr>
          <a:xfrm>
            <a:off x="3474720" y="1828800"/>
            <a:ext cx="2468880" cy="411480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474720" y="1828800"/>
            <a:ext cx="2468880" cy="137160"/>
          </a:xfrm>
          <a:prstGeom prst="rect">
            <a:avLst/>
          </a:prstGeom>
          <a:solidFill>
            <a:srgbClr val="7209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0" y="2194560"/>
            <a:ext cx="210312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800" b="1">
                <a:solidFill>
                  <a:srgbClr val="7209B7"/>
                </a:solidFill>
                <a:latin typeface="Georgia"/>
              </a:defRPr>
            </a:pPr>
            <a:r>
              <a:t>02</a:t>
            </a:r>
          </a:p>
          <a:p>
            <a:pPr>
              <a:spcAft>
                <a:spcPts val="800"/>
              </a:spcAft>
              <a:defRPr sz="1600" b="1">
                <a:solidFill>
                  <a:srgbClr val="1B242A"/>
                </a:solidFill>
                <a:latin typeface="Georgia"/>
              </a:defRPr>
            </a:pPr>
            <a:r>
              <a:t>Manual &amp; Inefficient</a:t>
            </a:r>
          </a:p>
          <a:p>
            <a:pPr>
              <a:defRPr sz="1300">
                <a:solidFill>
                  <a:srgbClr val="6C7A89"/>
                </a:solidFill>
                <a:latin typeface="Calibri"/>
              </a:defRPr>
            </a:pPr>
            <a:r>
              <a:t>Heavy reliance on spreadsheets, manual emails, and phone calls, causing immense admin fatigue.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17920" y="1828800"/>
            <a:ext cx="2468880" cy="411480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17920" y="1828800"/>
            <a:ext cx="2468880" cy="13716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0" y="2194560"/>
            <a:ext cx="210312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800" b="1">
                <a:solidFill>
                  <a:srgbClr val="D4AF37"/>
                </a:solidFill>
                <a:latin typeface="Georgia"/>
              </a:defRPr>
            </a:pPr>
            <a:r>
              <a:t>03</a:t>
            </a:r>
          </a:p>
          <a:p>
            <a:pPr>
              <a:spcAft>
                <a:spcPts val="800"/>
              </a:spcAft>
              <a:defRPr sz="1600" b="1">
                <a:solidFill>
                  <a:srgbClr val="1B242A"/>
                </a:solidFill>
                <a:latin typeface="Georgia"/>
              </a:defRPr>
            </a:pPr>
            <a:r>
              <a:t>Opaque Operations</a:t>
            </a:r>
          </a:p>
          <a:p>
            <a:pPr>
              <a:defRPr sz="1300">
                <a:solidFill>
                  <a:srgbClr val="6C7A89"/>
                </a:solidFill>
                <a:latin typeface="Calibri"/>
              </a:defRPr>
            </a:pPr>
            <a:r>
              <a:t>Difficulty tracking real-time status or identifying systemic bottlenecks, stalling service quality.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961120" y="1828800"/>
            <a:ext cx="2468880" cy="411480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961120" y="1828800"/>
            <a:ext cx="2468880" cy="137160"/>
          </a:xfrm>
          <a:prstGeom prst="rect">
            <a:avLst/>
          </a:prstGeom>
          <a:solidFill>
            <a:srgbClr val="6C7A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44000" y="2194560"/>
            <a:ext cx="210312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800" b="1">
                <a:solidFill>
                  <a:srgbClr val="6C7A89"/>
                </a:solidFill>
                <a:latin typeface="Georgia"/>
              </a:defRPr>
            </a:pPr>
            <a:r>
              <a:t>04</a:t>
            </a:r>
          </a:p>
          <a:p>
            <a:pPr>
              <a:spcAft>
                <a:spcPts val="800"/>
              </a:spcAft>
              <a:defRPr sz="1600" b="1">
                <a:solidFill>
                  <a:srgbClr val="1B242A"/>
                </a:solidFill>
                <a:latin typeface="Georgia"/>
              </a:defRPr>
            </a:pPr>
            <a:r>
              <a:t>Compliance Risks</a:t>
            </a:r>
          </a:p>
          <a:p>
            <a:pPr>
              <a:defRPr sz="1300">
                <a:solidFill>
                  <a:srgbClr val="6C7A89"/>
                </a:solidFill>
                <a:latin typeface="Calibri"/>
              </a:defRPr>
            </a:pPr>
            <a:r>
              <a:t>Inconsistent records and a lack of secure audit trails, exposing organizations to major regulatory fines.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A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800" b="1">
                <a:solidFill>
                  <a:srgbClr val="1B242A"/>
                </a:solidFill>
                <a:latin typeface="Georgia"/>
              </a:defRPr>
            </a:pPr>
            <a:r>
              <a:t>Four Pillars of AnshuAI Expertise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51560"/>
            <a:ext cx="1828800" cy="38100"/>
          </a:xfrm>
          <a:prstGeom prst="rect">
            <a:avLst/>
          </a:prstGeom>
          <a:solidFill>
            <a:srgbClr val="00A8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1737360"/>
            <a:ext cx="5212080" cy="1828800"/>
          </a:xfrm>
          <a:prstGeom prst="roundRect">
            <a:avLst/>
          </a:prstGeom>
          <a:solidFill>
            <a:srgbClr val="F0F4F8"/>
          </a:solidFill>
          <a:ln w="19050">
            <a:solidFill>
              <a:srgbClr val="00A8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1920240"/>
            <a:ext cx="466344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800" b="1">
                <a:solidFill>
                  <a:srgbClr val="1B242A"/>
                </a:solidFill>
                <a:latin typeface="Georgia"/>
              </a:defRPr>
            </a:pPr>
            <a:r>
              <a:t>ServiceNow Skills</a:t>
            </a:r>
          </a:p>
          <a:p>
            <a:pPr>
              <a:defRPr sz="1300">
                <a:solidFill>
                  <a:srgbClr val="6C7A89"/>
                </a:solidFill>
                <a:latin typeface="Calibri"/>
              </a:defRPr>
            </a:pPr>
            <a:r>
              <a:t>Centralizing, optimizing, and industrializing your workflows to build a bulletproof platform that drives transparency.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737360"/>
            <a:ext cx="5212080" cy="1828800"/>
          </a:xfrm>
          <a:prstGeom prst="roundRect">
            <a:avLst/>
          </a:prstGeom>
          <a:solidFill>
            <a:srgbClr val="F0F4F8"/>
          </a:solidFill>
          <a:ln w="19050">
            <a:solidFill>
              <a:srgbClr val="7209B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92240" y="1920240"/>
            <a:ext cx="466344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800" b="1">
                <a:solidFill>
                  <a:srgbClr val="1B242A"/>
                </a:solidFill>
                <a:latin typeface="Georgia"/>
              </a:defRPr>
            </a:pPr>
            <a:r>
              <a:t>Bespoke AI Solutions</a:t>
            </a:r>
          </a:p>
          <a:p>
            <a:pPr>
              <a:defRPr sz="1300">
                <a:solidFill>
                  <a:srgbClr val="6C7A89"/>
                </a:solidFill>
                <a:latin typeface="Calibri"/>
              </a:defRPr>
            </a:pPr>
            <a:r>
              <a:t>Developing custom machine learning algorithms and predictive analytics tailored specifically to your unique business data.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3931920"/>
            <a:ext cx="5212080" cy="1828800"/>
          </a:xfrm>
          <a:prstGeom prst="roundRect">
            <a:avLst/>
          </a:prstGeom>
          <a:solidFill>
            <a:srgbClr val="F0F4F8"/>
          </a:solidFill>
          <a:ln w="19050"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4114800"/>
            <a:ext cx="466344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800" b="1">
                <a:solidFill>
                  <a:srgbClr val="1B242A"/>
                </a:solidFill>
                <a:latin typeface="Georgia"/>
              </a:defRPr>
            </a:pPr>
            <a:r>
              <a:t>AI Automation</a:t>
            </a:r>
          </a:p>
          <a:p>
            <a:pPr>
              <a:defRPr sz="1300">
                <a:solidFill>
                  <a:srgbClr val="6C7A89"/>
                </a:solidFill>
                <a:latin typeface="Calibri"/>
              </a:defRPr>
            </a:pPr>
            <a:r>
              <a:t>Stripping manual overhead out of daily operations to dramatically increase productivity and minimize error rates.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3931920"/>
            <a:ext cx="5212080" cy="1828800"/>
          </a:xfrm>
          <a:prstGeom prst="roundRect">
            <a:avLst/>
          </a:prstGeom>
          <a:solidFill>
            <a:srgbClr val="F0F4F8"/>
          </a:solidFill>
          <a:ln w="19050">
            <a:solidFill>
              <a:srgbClr val="6C7A8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92240" y="4114800"/>
            <a:ext cx="466344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800" b="1">
                <a:solidFill>
                  <a:srgbClr val="1B242A"/>
                </a:solidFill>
                <a:latin typeface="Georgia"/>
              </a:defRPr>
            </a:pPr>
            <a:r>
              <a:t>HeadStart Accelerators</a:t>
            </a:r>
          </a:p>
          <a:p>
            <a:pPr>
              <a:defRPr sz="1300">
                <a:solidFill>
                  <a:srgbClr val="6C7A89"/>
                </a:solidFill>
                <a:latin typeface="Calibri"/>
              </a:defRPr>
            </a:pPr>
            <a:r>
              <a:t>Pre-configured, battle-tested templates tailored for immediate deployment in Healthcare, Manufacturing, and FMCG.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A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800" b="1">
                <a:solidFill>
                  <a:srgbClr val="1B242A"/>
                </a:solidFill>
                <a:latin typeface="Georgia"/>
              </a:defRPr>
            </a:pPr>
            <a:r>
              <a:t>Healthcare Agility: Patient Case Management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51560"/>
            <a:ext cx="1828800" cy="38100"/>
          </a:xfrm>
          <a:prstGeom prst="rect">
            <a:avLst/>
          </a:prstGeom>
          <a:solidFill>
            <a:srgbClr val="00A8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1828800"/>
            <a:ext cx="5029200" cy="3931920"/>
          </a:xfrm>
          <a:prstGeom prst="roundRect">
            <a:avLst/>
          </a:prstGeom>
          <a:solidFill>
            <a:srgbClr val="0C1A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2103120"/>
            <a:ext cx="448056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200" b="1">
                <a:solidFill>
                  <a:srgbClr val="D4AF37"/>
                </a:solidFill>
                <a:latin typeface="Calibri"/>
              </a:defRPr>
            </a:pPr>
            <a:r>
              <a:t>INTELLIGENT SOLUTION STACK</a:t>
            </a:r>
          </a:p>
          <a:p>
            <a:pPr>
              <a:defRPr sz="1400" b="1">
                <a:solidFill>
                  <a:srgbClr val="FCFAF6"/>
                </a:solidFill>
                <a:latin typeface="Georgia"/>
              </a:defRPr>
            </a:pPr>
            <a:r>
              <a:t>• ServiceNow CSM Integration</a:t>
            </a:r>
          </a:p>
          <a:p>
            <a:pPr>
              <a:spcAft>
                <a:spcPts val="1000"/>
              </a:spcAft>
              <a:defRPr sz="1200">
                <a:solidFill>
                  <a:srgbClr val="6C7A89"/>
                </a:solidFill>
                <a:latin typeface="Calibri"/>
              </a:defRPr>
            </a:pPr>
            <a:r>
              <a:t>Multiple intake channels (Patient Portal, Email, Phone) mapped to unified records.</a:t>
            </a:r>
          </a:p>
          <a:p>
            <a:pPr>
              <a:defRPr sz="1400" b="1">
                <a:solidFill>
                  <a:srgbClr val="FCFAF6"/>
                </a:solidFill>
                <a:latin typeface="Georgia"/>
              </a:defRPr>
            </a:pPr>
            <a:r>
              <a:t>• Configurable Workflows &amp; SLAs</a:t>
            </a:r>
          </a:p>
          <a:p>
            <a:pPr>
              <a:spcAft>
                <a:spcPts val="1000"/>
              </a:spcAft>
              <a:defRPr sz="1200">
                <a:solidFill>
                  <a:srgbClr val="6C7A89"/>
                </a:solidFill>
                <a:latin typeface="Calibri"/>
              </a:defRPr>
            </a:pPr>
            <a:r>
              <a:t>Automated tracking, escalations, and notifications ensuring timely closure.</a:t>
            </a:r>
          </a:p>
          <a:p>
            <a:pPr>
              <a:defRPr sz="1400" b="1">
                <a:solidFill>
                  <a:srgbClr val="FCFAF6"/>
                </a:solidFill>
                <a:latin typeface="Georgia"/>
              </a:defRPr>
            </a:pPr>
            <a:r>
              <a:t>• EMR / EHR Clinical API</a:t>
            </a:r>
          </a:p>
          <a:p>
            <a:pPr>
              <a:spcAft>
                <a:spcPts val="1000"/>
              </a:spcAft>
              <a:defRPr sz="1200">
                <a:solidFill>
                  <a:srgbClr val="6C7A89"/>
                </a:solidFill>
                <a:latin typeface="Calibri"/>
              </a:defRPr>
            </a:pPr>
            <a:r>
              <a:t>Secure connections to patient files for contextual, comprehensive case views.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828800"/>
            <a:ext cx="5212080" cy="1920240"/>
          </a:xfrm>
          <a:prstGeom prst="roundRect">
            <a:avLst/>
          </a:prstGeom>
          <a:solidFill>
            <a:srgbClr val="F0F4F8"/>
          </a:solidFill>
          <a:ln w="19050">
            <a:solidFill>
              <a:srgbClr val="00A8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92240" y="2011680"/>
            <a:ext cx="201168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400" b="1">
                <a:solidFill>
                  <a:srgbClr val="00A896"/>
                </a:solidFill>
                <a:latin typeface="Georgia"/>
              </a:defRPr>
            </a:pPr>
            <a:r>
              <a:t>30-40%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03920" y="2011680"/>
            <a:ext cx="274320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600" b="1">
                <a:solidFill>
                  <a:srgbClr val="1B242A"/>
                </a:solidFill>
                <a:latin typeface="Georgia"/>
              </a:defRPr>
            </a:pPr>
            <a:r>
              <a:t>Resolution Time Reduction</a:t>
            </a:r>
          </a:p>
          <a:p>
            <a:pPr>
              <a:defRPr sz="1200">
                <a:solidFill>
                  <a:srgbClr val="6C7A89"/>
                </a:solidFill>
                <a:latin typeface="Calibri"/>
              </a:defRPr>
            </a:pPr>
            <a:r>
              <a:t>Slashing case backlog and improving overall patient trust.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3840480"/>
            <a:ext cx="5212080" cy="1920240"/>
          </a:xfrm>
          <a:prstGeom prst="roundRect">
            <a:avLst/>
          </a:prstGeom>
          <a:solidFill>
            <a:srgbClr val="F0F4F8"/>
          </a:solidFill>
          <a:ln w="19050">
            <a:solidFill>
              <a:srgbClr val="7209B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92240" y="4023360"/>
            <a:ext cx="201168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400" b="1">
                <a:solidFill>
                  <a:srgbClr val="7209B7"/>
                </a:solidFill>
                <a:latin typeface="Georgia"/>
              </a:defRPr>
            </a:pPr>
            <a:r>
              <a:t>1,000+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03920" y="4023360"/>
            <a:ext cx="274320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600" b="1">
                <a:solidFill>
                  <a:srgbClr val="1B242A"/>
                </a:solidFill>
                <a:latin typeface="Georgia"/>
              </a:defRPr>
            </a:pPr>
            <a:r>
              <a:t>Clinical Hours Saved / Mo</a:t>
            </a:r>
          </a:p>
          <a:p>
            <a:pPr>
              <a:defRPr sz="1200">
                <a:solidFill>
                  <a:srgbClr val="6C7A89"/>
                </a:solidFill>
                <a:latin typeface="Calibri"/>
              </a:defRPr>
            </a:pPr>
            <a:r>
              <a:t>Reclaimed patient-facing hours for vital care teams.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A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800" b="1">
                <a:solidFill>
                  <a:srgbClr val="1B242A"/>
                </a:solidFill>
                <a:latin typeface="Georgia"/>
              </a:defRPr>
            </a:pPr>
            <a:r>
              <a:t>Manufacturing: Asset Health &amp; Compliance Automation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51560"/>
            <a:ext cx="1828800" cy="38100"/>
          </a:xfrm>
          <a:prstGeom prst="rect">
            <a:avLst/>
          </a:prstGeom>
          <a:solidFill>
            <a:srgbClr val="00A8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1828800"/>
            <a:ext cx="5242255" cy="3931920"/>
          </a:xfrm>
          <a:prstGeom prst="round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097280" y="2377440"/>
            <a:ext cx="2011680" cy="2011680"/>
          </a:xfrm>
          <a:prstGeom prst="ellipse">
            <a:avLst/>
          </a:prstGeom>
          <a:solidFill>
            <a:srgbClr val="00A8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457200"/>
          <a:lstStyle/>
          <a:p>
            <a:pPr algn="ctr">
              <a:defRPr sz="3600" b="1">
                <a:solidFill>
                  <a:srgbClr val="FCFAF6"/>
                </a:solidFill>
                <a:latin typeface="Georgia"/>
              </a:defRPr>
            </a:pPr>
            <a:r>
              <a:t>-25%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91840" y="2103120"/>
            <a:ext cx="246888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2000" b="1">
                <a:solidFill>
                  <a:srgbClr val="1B242A"/>
                </a:solidFill>
                <a:latin typeface="Georgia"/>
              </a:defRPr>
            </a:pPr>
            <a:r>
              <a:t>MRO Maintenance</a:t>
            </a:r>
          </a:p>
          <a:p>
            <a:pPr>
              <a:spcAft>
                <a:spcPts val="1200"/>
              </a:spcAft>
              <a:defRPr sz="1400" b="1">
                <a:solidFill>
                  <a:srgbClr val="00A896"/>
                </a:solidFill>
                <a:latin typeface="Georgia"/>
              </a:defRPr>
            </a:pPr>
            <a:r>
              <a:t>Downtime Reduction</a:t>
            </a:r>
          </a:p>
          <a:p>
            <a:pPr>
              <a:defRPr sz="1300">
                <a:solidFill>
                  <a:srgbClr val="6C7A89"/>
                </a:solidFill>
                <a:latin typeface="Calibri"/>
              </a:defRPr>
            </a:pPr>
            <a:r>
              <a:t>Integrating IoT alerts &amp; Field Service Management to streamline preventive technicians.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828800"/>
            <a:ext cx="5242255" cy="3931920"/>
          </a:xfrm>
          <a:prstGeom prst="round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6583680" y="2377440"/>
            <a:ext cx="2011680" cy="2011680"/>
          </a:xfrm>
          <a:prstGeom prst="ellipse">
            <a:avLst/>
          </a:prstGeom>
          <a:solidFill>
            <a:srgbClr val="7209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457200"/>
          <a:lstStyle/>
          <a:p>
            <a:pPr algn="ctr">
              <a:defRPr sz="3600" b="1">
                <a:solidFill>
                  <a:srgbClr val="FCFAF6"/>
                </a:solidFill>
                <a:latin typeface="Georgia"/>
              </a:defRPr>
            </a:pPr>
            <a:r>
              <a:t>30-40%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778240" y="2103120"/>
            <a:ext cx="246888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2000" b="1">
                <a:solidFill>
                  <a:srgbClr val="1B242A"/>
                </a:solidFill>
                <a:latin typeface="Georgia"/>
              </a:defRPr>
            </a:pPr>
            <a:r>
              <a:t>Recall &amp; Compliance</a:t>
            </a:r>
          </a:p>
          <a:p>
            <a:pPr>
              <a:spcAft>
                <a:spcPts val="1200"/>
              </a:spcAft>
              <a:defRPr sz="1400" b="1">
                <a:solidFill>
                  <a:srgbClr val="7209B7"/>
                </a:solidFill>
                <a:latin typeface="Georgia"/>
              </a:defRPr>
            </a:pPr>
            <a:r>
              <a:t>Faster Recall Closures</a:t>
            </a:r>
          </a:p>
          <a:p>
            <a:pPr>
              <a:defRPr sz="1300">
                <a:solidFill>
                  <a:srgbClr val="6C7A89"/>
                </a:solidFill>
                <a:latin typeface="Calibri"/>
              </a:defRPr>
            </a:pPr>
            <a:r>
              <a:t>Establishing fully auditable workflows to track product recalls and protect safety.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A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800" b="1">
                <a:solidFill>
                  <a:srgbClr val="1B242A"/>
                </a:solidFill>
                <a:latin typeface="Georgia"/>
              </a:defRPr>
            </a:pPr>
            <a:r>
              <a:t>FMCG Agility: Real-Time Inventory Precision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51560"/>
            <a:ext cx="1828800" cy="38100"/>
          </a:xfrm>
          <a:prstGeom prst="rect">
            <a:avLst/>
          </a:prstGeom>
          <a:solidFill>
            <a:srgbClr val="00A8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1072865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6C7A89"/>
                </a:solidFill>
                <a:latin typeface="Calibri"/>
              </a:defRPr>
            </a:pPr>
            <a:r>
              <a:t>Breaking down tracking silos to deliver high-velocity replenishment workflows.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737360"/>
            <a:ext cx="10728655" cy="1920240"/>
          </a:xfrm>
          <a:prstGeom prst="round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1737360"/>
            <a:ext cx="2286000" cy="1920240"/>
          </a:xfrm>
          <a:prstGeom prst="rect">
            <a:avLst/>
          </a:prstGeom>
          <a:solidFill>
            <a:srgbClr val="00A8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0"/>
          <a:lstStyle/>
          <a:p>
            <a:pPr algn="ctr">
              <a:defRPr sz="4000" b="1">
                <a:solidFill>
                  <a:srgbClr val="FCFAF6"/>
                </a:solidFill>
                <a:latin typeface="Georgia"/>
              </a:defRPr>
            </a:pPr>
            <a:r>
              <a:t>20-30%</a:t>
            </a:r>
          </a:p>
          <a:p>
            <a:pPr algn="ctr">
              <a:defRPr sz="1000" b="1">
                <a:solidFill>
                  <a:srgbClr val="D4AF37"/>
                </a:solidFill>
                <a:latin typeface="Calibri"/>
              </a:defRPr>
            </a:pPr>
            <a:r>
              <a:t>PROVEN IMPACT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91840" y="1920240"/>
            <a:ext cx="777240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800" b="1">
                <a:solidFill>
                  <a:srgbClr val="1B242A"/>
                </a:solidFill>
                <a:latin typeface="Georgia"/>
              </a:defRPr>
            </a:pPr>
            <a:r>
              <a:t>Real-Time Inventory &amp; Forecasting</a:t>
            </a:r>
          </a:p>
          <a:p>
            <a:pPr>
              <a:spcAft>
                <a:spcPts val="600"/>
              </a:spcAft>
              <a:defRPr sz="1300" b="1">
                <a:solidFill>
                  <a:srgbClr val="00A896"/>
                </a:solidFill>
                <a:latin typeface="Georgia"/>
              </a:defRPr>
            </a:pPr>
            <a:r>
              <a:t>Reduction in Stockouts &amp; Overstocking</a:t>
            </a:r>
          </a:p>
          <a:p>
            <a:pPr>
              <a:defRPr sz="1250">
                <a:solidFill>
                  <a:srgbClr val="6C7A89"/>
                </a:solidFill>
                <a:latin typeface="Calibri"/>
              </a:defRPr>
            </a:pPr>
            <a:r>
              <a:t>Centralizing siloed inventory data and utilizing predictive analytics to ensure optimal supply chain balance.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3931920"/>
            <a:ext cx="10728655" cy="1920240"/>
          </a:xfrm>
          <a:prstGeom prst="round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31520" y="3931920"/>
            <a:ext cx="2286000" cy="1920240"/>
          </a:xfrm>
          <a:prstGeom prst="rect">
            <a:avLst/>
          </a:prstGeom>
          <a:solidFill>
            <a:srgbClr val="7209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0"/>
          <a:lstStyle/>
          <a:p>
            <a:pPr algn="ctr">
              <a:defRPr sz="4000" b="1">
                <a:solidFill>
                  <a:srgbClr val="FCFAF6"/>
                </a:solidFill>
                <a:latin typeface="Georgia"/>
              </a:defRPr>
            </a:pPr>
            <a:r>
              <a:t>15-25%</a:t>
            </a:r>
          </a:p>
          <a:p>
            <a:pPr algn="ctr">
              <a:defRPr sz="1000" b="1">
                <a:solidFill>
                  <a:srgbClr val="D4AF37"/>
                </a:solidFill>
                <a:latin typeface="Calibri"/>
              </a:defRPr>
            </a:pPr>
            <a:r>
              <a:t>PROVEN IMPACT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91840" y="4114800"/>
            <a:ext cx="777240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800" b="1">
                <a:solidFill>
                  <a:srgbClr val="1B242A"/>
                </a:solidFill>
                <a:latin typeface="Georgia"/>
              </a:defRPr>
            </a:pPr>
            <a:r>
              <a:t>Automated Replenishment Sprints</a:t>
            </a:r>
          </a:p>
          <a:p>
            <a:pPr>
              <a:spcAft>
                <a:spcPts val="600"/>
              </a:spcAft>
              <a:defRPr sz="1300" b="1">
                <a:solidFill>
                  <a:srgbClr val="7209B7"/>
                </a:solidFill>
                <a:latin typeface="Georgia"/>
              </a:defRPr>
            </a:pPr>
            <a:r>
              <a:t>Decrease in Manual Inventory Efforts</a:t>
            </a:r>
          </a:p>
          <a:p>
            <a:pPr>
              <a:defRPr sz="1250">
                <a:solidFill>
                  <a:srgbClr val="6C7A89"/>
                </a:solidFill>
                <a:latin typeface="Calibri"/>
              </a:defRPr>
            </a:pPr>
            <a:r>
              <a:t>Mapping POS and supplier data to rule-based automated workflows, eliminating tedious manual tracking.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A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800" b="1">
                <a:solidFill>
                  <a:srgbClr val="1B242A"/>
                </a:solidFill>
                <a:latin typeface="Georgia"/>
              </a:defRPr>
            </a:pPr>
            <a:r>
              <a:t>Transformative Business Value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51560"/>
            <a:ext cx="1828800" cy="38100"/>
          </a:xfrm>
          <a:prstGeom prst="rect">
            <a:avLst/>
          </a:prstGeom>
          <a:solidFill>
            <a:srgbClr val="00A8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1828800"/>
            <a:ext cx="3383280" cy="3931920"/>
          </a:xfrm>
          <a:prstGeom prst="roundRect">
            <a:avLst/>
          </a:prstGeom>
          <a:solidFill>
            <a:srgbClr val="F0F4F8"/>
          </a:solidFill>
          <a:ln w="19050">
            <a:solidFill>
              <a:srgbClr val="00A8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1828800"/>
            <a:ext cx="3383280" cy="1188720"/>
          </a:xfrm>
          <a:prstGeom prst="rect">
            <a:avLst/>
          </a:prstGeom>
          <a:solidFill>
            <a:srgbClr val="00A8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74320"/>
          <a:lstStyle/>
          <a:p>
            <a:pPr algn="ctr">
              <a:defRPr sz="3200" b="1">
                <a:solidFill>
                  <a:srgbClr val="FCFAF6"/>
                </a:solidFill>
                <a:latin typeface="Georgia"/>
              </a:defRPr>
            </a:pPr>
            <a:r>
              <a:t>Up to 30%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" y="3200400"/>
            <a:ext cx="292608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 b="1">
                <a:solidFill>
                  <a:srgbClr val="1B242A"/>
                </a:solidFill>
                <a:latin typeface="Georgia"/>
              </a:defRPr>
            </a:pPr>
            <a:r>
              <a:t>Operational Efficiency Boost</a:t>
            </a:r>
          </a:p>
          <a:p>
            <a:pPr>
              <a:defRPr sz="1300">
                <a:solidFill>
                  <a:srgbClr val="6C7A89"/>
                </a:solidFill>
                <a:latin typeface="Calibri"/>
              </a:defRPr>
            </a:pPr>
            <a:r>
              <a:t>Directly cutting out labor-intensive routine administration to reduce operational and compliance costs.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9120" y="1828800"/>
            <a:ext cx="3383280" cy="3931920"/>
          </a:xfrm>
          <a:prstGeom prst="roundRect">
            <a:avLst/>
          </a:prstGeom>
          <a:solidFill>
            <a:srgbClr val="F0F4F8"/>
          </a:solidFill>
          <a:ln w="19050">
            <a:solidFill>
              <a:srgbClr val="7209B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389120" y="1828800"/>
            <a:ext cx="3383280" cy="1188720"/>
          </a:xfrm>
          <a:prstGeom prst="rect">
            <a:avLst/>
          </a:prstGeom>
          <a:solidFill>
            <a:srgbClr val="7209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74320"/>
          <a:lstStyle/>
          <a:p>
            <a:pPr algn="ctr">
              <a:defRPr sz="3200" b="1">
                <a:solidFill>
                  <a:srgbClr val="FCFAF6"/>
                </a:solidFill>
                <a:latin typeface="Georgia"/>
              </a:defRPr>
            </a:pPr>
            <a:r>
              <a:t>Zero Penalties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617720" y="3200400"/>
            <a:ext cx="292608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 b="1">
                <a:solidFill>
                  <a:srgbClr val="1B242A"/>
                </a:solidFill>
                <a:latin typeface="Georgia"/>
              </a:defRPr>
            </a:pPr>
            <a:r>
              <a:t>Risk Mitigation &amp; Audit Security</a:t>
            </a:r>
          </a:p>
          <a:p>
            <a:pPr>
              <a:defRPr sz="1300">
                <a:solidFill>
                  <a:srgbClr val="6C7A89"/>
                </a:solidFill>
                <a:latin typeface="Calibri"/>
              </a:defRPr>
            </a:pPr>
            <a:r>
              <a:t>Built-in automated audit trails and frameworks tailored to regional and global safety standards.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46720" y="1828800"/>
            <a:ext cx="3383280" cy="3931920"/>
          </a:xfrm>
          <a:prstGeom prst="roundRect">
            <a:avLst/>
          </a:prstGeom>
          <a:solidFill>
            <a:srgbClr val="F0F4F8"/>
          </a:solidFill>
          <a:ln w="19050"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046720" y="1828800"/>
            <a:ext cx="3383280" cy="118872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74320"/>
          <a:lstStyle/>
          <a:p>
            <a:pPr algn="ctr">
              <a:defRPr sz="3200" b="1">
                <a:solidFill>
                  <a:srgbClr val="FCFAF6"/>
                </a:solidFill>
                <a:latin typeface="Georgia"/>
              </a:defRPr>
            </a:pPr>
            <a:r>
              <a:t>Unified Portal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75320" y="3200400"/>
            <a:ext cx="292608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 b="1">
                <a:solidFill>
                  <a:srgbClr val="1B242A"/>
                </a:solidFill>
                <a:latin typeface="Georgia"/>
              </a:defRPr>
            </a:pPr>
            <a:r>
              <a:t>Elevated Experience &amp; Growth</a:t>
            </a:r>
          </a:p>
          <a:p>
            <a:pPr>
              <a:defRPr sz="1300">
                <a:solidFill>
                  <a:srgbClr val="6C7A89"/>
                </a:solidFill>
                <a:latin typeface="Calibri"/>
              </a:defRPr>
            </a:pPr>
            <a:r>
              <a:t>Self-service patient/customer portals and virtual agents that raise user engagement and satisfaction scores.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A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800" b="1">
                <a:solidFill>
                  <a:srgbClr val="1B242A"/>
                </a:solidFill>
                <a:latin typeface="Georgia"/>
              </a:defRPr>
            </a:pPr>
            <a:r>
              <a:t>Roadmap: Velocity-Driven Sprints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51560"/>
            <a:ext cx="1828800" cy="38100"/>
          </a:xfrm>
          <a:prstGeom prst="rect">
            <a:avLst/>
          </a:prstGeom>
          <a:solidFill>
            <a:srgbClr val="00A8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2103120"/>
            <a:ext cx="1962302" cy="3657600"/>
          </a:xfrm>
          <a:prstGeom prst="roundRect">
            <a:avLst/>
          </a:prstGeom>
          <a:solidFill>
            <a:srgbClr val="F0F4F8"/>
          </a:solidFill>
          <a:ln w="19050">
            <a:solidFill>
              <a:srgbClr val="6C7A8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2286000"/>
            <a:ext cx="1687982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400" b="1">
                <a:solidFill>
                  <a:srgbClr val="6C7A89"/>
                </a:solidFill>
                <a:latin typeface="Georgia"/>
              </a:defRPr>
            </a:pPr>
            <a:r>
              <a:t>01</a:t>
            </a:r>
          </a:p>
          <a:p>
            <a:pPr>
              <a:spcAft>
                <a:spcPts val="800"/>
              </a:spcAft>
              <a:defRPr sz="1400" b="1">
                <a:solidFill>
                  <a:srgbClr val="1B242A"/>
                </a:solidFill>
                <a:latin typeface="Georgia"/>
              </a:defRPr>
            </a:pPr>
            <a:r>
              <a:t>Value Assessment</a:t>
            </a:r>
          </a:p>
          <a:p>
            <a:pPr>
              <a:defRPr sz="1150">
                <a:solidFill>
                  <a:srgbClr val="6C7A89"/>
                </a:solidFill>
                <a:latin typeface="Calibri"/>
              </a:defRPr>
            </a:pPr>
            <a:r>
              <a:t>Quantify workflow friction and regulatory gaps.</a:t>
            </a:r>
          </a:p>
        </p:txBody>
      </p:sp>
      <p:sp>
        <p:nvSpPr>
          <p:cNvPr id="6" name="Chevron 5"/>
          <p:cNvSpPr/>
          <p:nvPr/>
        </p:nvSpPr>
        <p:spPr>
          <a:xfrm>
            <a:off x="2739542" y="3657600"/>
            <a:ext cx="137160" cy="274320"/>
          </a:xfrm>
          <a:prstGeom prst="chevron">
            <a:avLst/>
          </a:prstGeom>
          <a:solidFill>
            <a:srgbClr val="6C7A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2922422" y="2103120"/>
            <a:ext cx="1962302" cy="3657600"/>
          </a:xfrm>
          <a:prstGeom prst="roundRect">
            <a:avLst/>
          </a:prstGeom>
          <a:solidFill>
            <a:srgbClr val="F0F4F8"/>
          </a:solidFill>
          <a:ln w="19050">
            <a:solidFill>
              <a:srgbClr val="6C7A8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059582" y="2286000"/>
            <a:ext cx="1687982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400" b="1">
                <a:solidFill>
                  <a:srgbClr val="6C7A89"/>
                </a:solidFill>
                <a:latin typeface="Georgia"/>
              </a:defRPr>
            </a:pPr>
            <a:r>
              <a:t>02</a:t>
            </a:r>
          </a:p>
          <a:p>
            <a:pPr>
              <a:spcAft>
                <a:spcPts val="800"/>
              </a:spcAft>
              <a:defRPr sz="1400" b="1">
                <a:solidFill>
                  <a:srgbClr val="1B242A"/>
                </a:solidFill>
                <a:latin typeface="Georgia"/>
              </a:defRPr>
            </a:pPr>
            <a:r>
              <a:t>Strategic Design</a:t>
            </a:r>
          </a:p>
          <a:p>
            <a:pPr>
              <a:defRPr sz="1150">
                <a:solidFill>
                  <a:srgbClr val="6C7A89"/>
                </a:solidFill>
                <a:latin typeface="Calibri"/>
              </a:defRPr>
            </a:pPr>
            <a:r>
              <a:t>Collaborate to construct optimized target state.</a:t>
            </a:r>
          </a:p>
        </p:txBody>
      </p:sp>
      <p:sp>
        <p:nvSpPr>
          <p:cNvPr id="9" name="Chevron 8"/>
          <p:cNvSpPr/>
          <p:nvPr/>
        </p:nvSpPr>
        <p:spPr>
          <a:xfrm>
            <a:off x="4930444" y="3657600"/>
            <a:ext cx="137160" cy="274320"/>
          </a:xfrm>
          <a:prstGeom prst="chevron">
            <a:avLst/>
          </a:prstGeom>
          <a:solidFill>
            <a:srgbClr val="6C7A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5113324" y="2103120"/>
            <a:ext cx="1962302" cy="3657600"/>
          </a:xfrm>
          <a:prstGeom prst="roundRect">
            <a:avLst/>
          </a:prstGeom>
          <a:solidFill>
            <a:srgbClr val="F0F4F8"/>
          </a:solidFill>
          <a:ln w="19050">
            <a:solidFill>
              <a:srgbClr val="6C7A8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250484" y="2286000"/>
            <a:ext cx="1687982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400" b="1">
                <a:solidFill>
                  <a:srgbClr val="6C7A89"/>
                </a:solidFill>
                <a:latin typeface="Georgia"/>
              </a:defRPr>
            </a:pPr>
            <a:r>
              <a:t>03</a:t>
            </a:r>
          </a:p>
          <a:p>
            <a:pPr>
              <a:spcAft>
                <a:spcPts val="800"/>
              </a:spcAft>
              <a:defRPr sz="1400" b="1">
                <a:solidFill>
                  <a:srgbClr val="1B242A"/>
                </a:solidFill>
                <a:latin typeface="Georgia"/>
              </a:defRPr>
            </a:pPr>
            <a:r>
              <a:t>License Tuning</a:t>
            </a:r>
          </a:p>
          <a:p>
            <a:pPr>
              <a:defRPr sz="1150">
                <a:solidFill>
                  <a:srgbClr val="6C7A89"/>
                </a:solidFill>
                <a:latin typeface="Calibri"/>
              </a:defRPr>
            </a:pPr>
            <a:r>
              <a:t>Audit entitlements to extract maximum platform yield.</a:t>
            </a:r>
          </a:p>
        </p:txBody>
      </p:sp>
      <p:sp>
        <p:nvSpPr>
          <p:cNvPr id="12" name="Chevron 11"/>
          <p:cNvSpPr/>
          <p:nvPr/>
        </p:nvSpPr>
        <p:spPr>
          <a:xfrm>
            <a:off x="7121346" y="3657600"/>
            <a:ext cx="137160" cy="274320"/>
          </a:xfrm>
          <a:prstGeom prst="chevron">
            <a:avLst/>
          </a:prstGeom>
          <a:solidFill>
            <a:srgbClr val="6C7A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7304226" y="2103120"/>
            <a:ext cx="1962302" cy="3657600"/>
          </a:xfrm>
          <a:prstGeom prst="roundRect">
            <a:avLst/>
          </a:prstGeom>
          <a:solidFill>
            <a:srgbClr val="F0F4F8"/>
          </a:solidFill>
          <a:ln w="19050">
            <a:solidFill>
              <a:srgbClr val="00A8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441386" y="2286000"/>
            <a:ext cx="1687982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400" b="1">
                <a:solidFill>
                  <a:srgbClr val="00A896"/>
                </a:solidFill>
                <a:latin typeface="Georgia"/>
              </a:defRPr>
            </a:pPr>
            <a:r>
              <a:t>04</a:t>
            </a:r>
          </a:p>
          <a:p>
            <a:pPr>
              <a:spcAft>
                <a:spcPts val="800"/>
              </a:spcAft>
              <a:defRPr sz="1400" b="1">
                <a:solidFill>
                  <a:srgbClr val="1B242A"/>
                </a:solidFill>
                <a:latin typeface="Georgia"/>
              </a:defRPr>
            </a:pPr>
            <a:r>
              <a:t>Agile Deployment</a:t>
            </a:r>
          </a:p>
          <a:p>
            <a:pPr>
              <a:defRPr sz="1150">
                <a:solidFill>
                  <a:srgbClr val="6C7A89"/>
                </a:solidFill>
                <a:latin typeface="Calibri"/>
              </a:defRPr>
            </a:pPr>
            <a:r>
              <a:t>Rapid portal and AI launches in 8 to 12 weeks.</a:t>
            </a:r>
          </a:p>
        </p:txBody>
      </p:sp>
      <p:sp>
        <p:nvSpPr>
          <p:cNvPr id="15" name="Chevron 14"/>
          <p:cNvSpPr/>
          <p:nvPr/>
        </p:nvSpPr>
        <p:spPr>
          <a:xfrm>
            <a:off x="9312248" y="3657600"/>
            <a:ext cx="137160" cy="274320"/>
          </a:xfrm>
          <a:prstGeom prst="chevron">
            <a:avLst/>
          </a:prstGeom>
          <a:solidFill>
            <a:srgbClr val="6C7A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9495128" y="2103120"/>
            <a:ext cx="1962302" cy="3657600"/>
          </a:xfrm>
          <a:prstGeom prst="roundRect">
            <a:avLst/>
          </a:prstGeom>
          <a:solidFill>
            <a:srgbClr val="F0F4F8"/>
          </a:solidFill>
          <a:ln w="19050">
            <a:solidFill>
              <a:srgbClr val="6C7A8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632288" y="2286000"/>
            <a:ext cx="1687982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400" b="1">
                <a:solidFill>
                  <a:srgbClr val="6C7A89"/>
                </a:solidFill>
                <a:latin typeface="Georgia"/>
              </a:defRPr>
            </a:pPr>
            <a:r>
              <a:t>05</a:t>
            </a:r>
          </a:p>
          <a:p>
            <a:pPr>
              <a:spcAft>
                <a:spcPts val="800"/>
              </a:spcAft>
              <a:defRPr sz="1400" b="1">
                <a:solidFill>
                  <a:srgbClr val="1B242A"/>
                </a:solidFill>
                <a:latin typeface="Georgia"/>
              </a:defRPr>
            </a:pPr>
            <a:r>
              <a:t>Continuous Care</a:t>
            </a:r>
          </a:p>
          <a:p>
            <a:pPr>
              <a:defRPr sz="1150">
                <a:solidFill>
                  <a:srgbClr val="6C7A89"/>
                </a:solidFill>
                <a:latin typeface="Calibri"/>
              </a:defRPr>
            </a:pPr>
            <a:r>
              <a:t>Ongoing training, KPI audits, and pipeline evolution.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1A2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1371600" y="1371600"/>
            <a:ext cx="9448495" cy="4114800"/>
          </a:xfrm>
          <a:prstGeom prst="roundRect">
            <a:avLst/>
          </a:prstGeom>
          <a:solidFill>
            <a:srgbClr val="152A3A"/>
          </a:solidFill>
          <a:ln w="19050"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828800" y="1828800"/>
            <a:ext cx="8534095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1600"/>
              </a:spcAft>
              <a:defRPr sz="1300" b="1">
                <a:solidFill>
                  <a:srgbClr val="D4AF37"/>
                </a:solidFill>
                <a:latin typeface="Calibri"/>
              </a:defRPr>
            </a:pPr>
            <a:r>
              <a:t>LET'S CO-CREATE A HEALTHIER, MORE EFFICIENT TOMORROW</a:t>
            </a:r>
          </a:p>
          <a:p>
            <a:pPr algn="ctr">
              <a:spcAft>
                <a:spcPts val="1600"/>
              </a:spcAft>
              <a:defRPr sz="3600" b="1">
                <a:solidFill>
                  <a:srgbClr val="FCFAF6"/>
                </a:solidFill>
                <a:latin typeface="Georgia"/>
              </a:defRPr>
            </a:pPr>
            <a:r>
              <a:t>Transform with AnshuAI</a:t>
            </a:r>
          </a:p>
          <a:p>
            <a:pPr algn="ctr">
              <a:defRPr sz="1600">
                <a:solidFill>
                  <a:srgbClr val="6C7A89"/>
                </a:solidFill>
                <a:latin typeface="Calibri"/>
              </a:defRPr>
            </a:pPr>
            <a:r>
              <a:t>Accelerate your operational agility and maximize your platform values.</a:t>
            </a:r>
            <a:br/>
            <a:r>
              <a:t>Contact the AnshuAI team to initiate your customized Value Assessment.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